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66" r:id="rId2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"/>
      <p:regular r:id="rId201314"/>
    </p:embeddedFont>
    <p:embeddedFont>
      <p:font typeface="Host Grotesk Medium"/>
      <p:regular r:id="rId201315"/>
    </p:embeddedFont>
    <p:embeddedFont>
      <p:font typeface="Host Grotesk SemiBold"/>
      <p:regular r:id="rId201316"/>
    </p:embeddedFont>
    <p:embeddedFont>
      <p:font typeface="Host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1" Type="http://schemas.openxmlformats.org/officeDocument/2006/relationships/slide" Target="slides/slide11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image" Target="../media/image-8-3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714857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What is a machine-learning model?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778794"/>
            <a:ext cx="5714857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82006"/>
            <a:ext cx="5714857" cy="344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667893"/>
            <a:ext cx="5714857" cy="145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x: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input representation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model architecture and computation flow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θ: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learned parameters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y: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output prediction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585" y="4194274"/>
            <a:ext cx="5714857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Training vs. Inference: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Training learns θ. Today's focus is inference only: θ is frozen and we evaluate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(note: GPT-2 is decoder-only).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97" y="4540945"/>
            <a:ext cx="176109" cy="26362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380335"/>
            <a:ext cx="5714857" cy="34458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404" y="1114425"/>
            <a:ext cx="3733707" cy="28003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404" y="4156075"/>
            <a:ext cx="2308961" cy="15874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GPT-2 Small: what we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1186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85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GPT-2 is compact enough to expose the complete computation pipeline on CPU and GPU without distributed complexity.</a:t>
            </a:r>
            <a:endParaRPr lang="en-US" sz="16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Execution pipeline: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tokens → embeddings → 12 blocks → ln_f → logits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082727"/>
          <a:ext cx="9143771" cy="914400"/>
        </p:xfrm>
        <a:graphic>
          <a:graphicData uri="http://schemas.openxmlformats.org/drawingml/2006/table">
            <a:tbl>
              <a:tblPr/>
              <a:tblGrid>
                <a:gridCol w="4389010"/>
                <a:gridCol w="6583515"/>
              </a:tblGrid>
              <a:tr h="318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SPECIFICATION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GPT-2 SMALL CONFIGURATION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Parameters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124M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Transformer blocks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 layers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Hidden size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768 dimensions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Attention heads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 heads × 64 dimensions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Vocabulary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50,257 tokens (byte-level BPE)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Context window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1,024 tokens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903317"/>
            <a:ext cx="1158211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Scale reference: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124M parameters vs. modern massive models with 100B+ parameters (educational baseline, not a quality ranking).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Text → tokens → vectors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029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569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tokenizer maps text to discrete token IDs; embedding lookup turns IDs and sequence positions into dense vectors.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Raw string 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"The strangest thing I found inside my refrigerator was"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90815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0815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3390815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Tokenizer (BPE)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90815" y="3567112"/>
            <a:ext cx="2628834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Fixed mapping produces a sequence of token IDs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815" y="4149923"/>
            <a:ext cx="984126" cy="22750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72046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2046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046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Embedding lookup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72046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Token IDs index into learned weight matrices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953276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953276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7"/>
          <p:cNvSpPr/>
          <p:nvPr/>
        </p:nvSpPr>
        <p:spPr>
          <a:xfrm>
            <a:off x="8953276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 tensor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953276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Yields matrix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ready for block 0</a:t>
            </a:r>
            <a:endParaRPr lang="en-US" sz="14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879" y="3598863"/>
            <a:ext cx="868638" cy="227509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111452"/>
            <a:ext cx="10972526" cy="3445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9585" y="5697339"/>
            <a:ext cx="3657509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W_te: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Token embeddings (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170" y="5729089"/>
            <a:ext cx="955155" cy="2224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95688" y="5697339"/>
            <a:ext cx="3200320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W_pe: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Position embeddings (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  <a:endParaRPr lang="en-US" sz="14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688" y="6004620"/>
            <a:ext cx="868341" cy="2224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53196" y="5697339"/>
            <a:ext cx="3428914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Tensor shape: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548" y="5729089"/>
            <a:ext cx="598274" cy="227509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260743" y="5697339"/>
            <a:ext cx="12700" cy="551061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7918252" y="5697339"/>
            <a:ext cx="12700" cy="551061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What does a Transformer block actually do?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block alternates between communication across tokens and independent computation within each token.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211586"/>
            <a:ext cx="11582110" cy="35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                     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11586"/>
            <a:ext cx="3909121" cy="35728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810173"/>
            <a:ext cx="3608496" cy="19684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4981773"/>
            <a:ext cx="533386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1. Attention (Mix tokens):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Moves information across positions. "was" attends back to "refrigerator" so its vector absorbs context. Causal mask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prevents looking into the future.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697" y="5564584"/>
            <a:ext cx="187320" cy="227509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810173"/>
            <a:ext cx="2590735" cy="145732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375" y="2810173"/>
            <a:ext cx="2590735" cy="14573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48244" y="4470698"/>
            <a:ext cx="533386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2. MLP (Per token):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Transforms each token independently without mixing. Expands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, applies GELU nonlinearity, then compresses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663" y="4777978"/>
            <a:ext cx="877766" cy="222448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5412" y="5053509"/>
            <a:ext cx="877766" cy="22244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From Transformer math to computer operations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High-level attention equations compile down to four fundamental computer primitives: GEMMs, reductions, elementwise ops, and memory transfers.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10972526" cy="43388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201690"/>
            <a:ext cx="10972526" cy="650577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093567"/>
          <a:ext cx="9143771" cy="914400"/>
        </p:xfrm>
        <a:graphic>
          <a:graphicData uri="http://schemas.openxmlformats.org/drawingml/2006/table">
            <a:tbl>
              <a:tblPr/>
              <a:tblGrid>
                <a:gridCol w="5266812"/>
                <a:gridCol w="5705713"/>
              </a:tblGrid>
              <a:tr h="242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TRANSFORMER OPERATION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HARDWARE PRIMITIVE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 / K / V &amp; Output Projections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Matrix multiplication (GEMM)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QK^T and Attention × V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Matrix multiplication (GEMM)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Softmax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Reductions (max, sum) + elementwise exp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LayerNorm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Reductions (mean, var) + elementwise scale/bias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Residual addition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Elementwise add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Embedding lookup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Indexed memory read / gather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139401" cy="1706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Our NumPy reference implementation (cpu/gpt2.py)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682875"/>
            <a:ext cx="3139302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036887"/>
            <a:ext cx="3139401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line-by-line Python reference that mirrors the exact mathematics and serves as the ground-truth oracle for GPU verification.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5146278"/>
            <a:ext cx="3139401" cy="1102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Equation → NumPy → future CUDA kernels: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Clean 1-to-1 correspondence between mathematical tensor operations and executable kernels.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72849" y="838200"/>
            <a:ext cx="6309262" cy="5282009"/>
          </a:xfrm>
          <a:prstGeom prst="roundRect">
            <a:avLst>
              <a:gd name="adj" fmla="val 21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516623" y="1041400"/>
            <a:ext cx="5821713" cy="487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w.wte[token_ids] + w.wpe[pos]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qkv = linear(x, c_attn_w, c_attn_b)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q, k, v = np.split(qkv, 3, axis=-1)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(qh @ kh.transpose(0, 2, 1)) * scale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   = softmax(scores, axis=-1)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   = attn @ vh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layer_norm(x);  h = causal_self_attention(h);  x = x + h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layer_norm(x);  h = gelu_new(linear(h, ...));  x = x + h   # MLP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final_layer_norm(x)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x @ w.wte.T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Logits, softmax, and decoding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forward pass produces raw scores (logits) across the 50,257-token vocabulary; softmax normalizes them into probabilities for token selection.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6756231" cy="6813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363416"/>
            <a:ext cx="675623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Pipeline: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50k logits → softmax → probability distribution → decoding strategy → next token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4148832"/>
            <a:ext cx="675623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Decoding strategies: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Greedy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vs. Top-k / Top-p stochastic sampling.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80" y="4180582"/>
            <a:ext cx="681219" cy="254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585" y="4934248"/>
            <a:ext cx="675623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Key takeaway: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404743"/>
            <a:ext cx="6756231" cy="43388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509" y="3378795"/>
            <a:ext cx="3682908" cy="16075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Q, K, V: no KV cache (demo) vs. KV cache (production)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029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569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Autoregressive decoding generates one token at a time. Caching past Keys and Values avoids recalculating prior token representations.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28106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Single linear projection: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Generates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vectors at each layer.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2051" y="2659856"/>
            <a:ext cx="675762" cy="263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585" y="3184327"/>
            <a:ext cx="5333867" cy="1941016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>
                <a:alpha val="1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4529" y="3419277"/>
            <a:ext cx="48639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run.py (No KV cache)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4529" y="3932932"/>
            <a:ext cx="4863978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Full forward pass every token, recomputing all past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(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total work). Directly tied to `--verbose-timing` in our CPU benchmark.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4279602"/>
            <a:ext cx="182657" cy="26362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730" y="4279602"/>
            <a:ext cx="159738" cy="26362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156" y="4279602"/>
            <a:ext cx="533982" cy="26362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248244" y="3184327"/>
            <a:ext cx="5333867" cy="1941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6248244" y="3184327"/>
            <a:ext cx="5333867" cy="190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9"/>
          <p:cNvSpPr/>
          <p:nvPr/>
        </p:nvSpPr>
        <p:spPr>
          <a:xfrm>
            <a:off x="11575760" y="3184327"/>
            <a:ext cx="6350" cy="1941016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6248244" y="5118993"/>
            <a:ext cx="5333867" cy="6350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6248244" y="3184327"/>
            <a:ext cx="6350" cy="1941016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6483188" y="3431977"/>
            <a:ext cx="48639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Production KV cache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483188" y="3945632"/>
            <a:ext cx="4863978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Stores previous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 GPU VRAM; only new query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attends over the stored history (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per step).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578" y="3977382"/>
            <a:ext cx="182657" cy="263624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779" y="3977382"/>
            <a:ext cx="159738" cy="2636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3248" y="4292302"/>
            <a:ext cx="406092" cy="263624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8616" y="4292302"/>
            <a:ext cx="454609" cy="263624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5366643"/>
            <a:ext cx="761981" cy="10160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Why GPU + CUDA execution: mapping GEMMs to silicon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CPUs optimize for low-latency serial execution; GPUs dedicate silicon to massive SIMT parallel throughput for independent matrix tiles.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2709199" cy="2031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713982"/>
            <a:ext cx="5333867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GEMM parallelism: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Each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is computed independently across thousands of GPU cores.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74" y="4745732"/>
            <a:ext cx="1264114" cy="2338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5420618"/>
            <a:ext cx="5333867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CUDA execution hierarchy: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Kernel launch → Grid → Thread Blocks → Warps (32 threads) → Individual Threads.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2526506"/>
            <a:ext cx="2709199" cy="20319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8244" y="4713982"/>
            <a:ext cx="5333867" cy="1533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Memory hierarchy &amp; tiling: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Output matrices are broken into tiles; threads cooperate via registers, shared memory, and L1/L2 caches to minimize global DRAM traffic.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CUDA-Oxide note: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Targets these same hardware kernels via Rust and NVIDIA's `cargo oxide` toolchain.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spc="-14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Same math, three runtimes + live CPU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558131"/>
            <a:ext cx="10972526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Same GPT-2 weights, same mathematical operations, implemented across three execution systems to verify numerical logits and measure performance.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39677"/>
          <a:ext cx="9143771" cy="914400"/>
        </p:xfrm>
        <a:graphic>
          <a:graphicData uri="http://schemas.openxmlformats.org/drawingml/2006/table">
            <a:tbl>
              <a:tblPr/>
              <a:tblGrid>
                <a:gridCol w="2084780"/>
                <a:gridCol w="2084780"/>
                <a:gridCol w="1755604"/>
                <a:gridCol w="1975055"/>
                <a:gridCol w="1536154"/>
                <a:gridCol w="1536154"/>
              </a:tblGrid>
              <a:tr h="611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RUNTIME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EXECUTION UNIT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PREFILL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DECODE THROUGHPUT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P50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P95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9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NumPy reference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CPU (x86_64)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CUDA C++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GPU (NVCC)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CUDA-Oxide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GPU (Rust SIMT)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4992191"/>
            <a:ext cx="7111822" cy="1900734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37683" y="5182295"/>
            <a:ext cx="6655626" cy="1520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demonstration trace: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verify                 # Assert logits match within tolerance (logits_CPU ≈ logits_GPU)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--prompt "The strangest thing I found inside my refrigerator was" --verbose-timing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26199" y="4778375"/>
            <a:ext cx="3555911" cy="1633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Live demonstration: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Run prompt on CPU oracle → compare logits → generate tokens → inspect `--verbose-timing`.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Status: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CPU oracle live today; GPU paths (CUDA C++ &amp; CUDA-Oxide) target identical math on NVIDIA hardware.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5124" y="6451898"/>
            <a:ext cx="826571" cy="202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spc="185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8521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21212"/>
                </a:solidFill>
                <a:latin typeface="Aptos"/>
              </a:defRPr>
            </a:pPr>
            <a:r>
              <a:t>From Transformer Math</a:t>
            </a:r>
            <a:br/>
            <a:r>
              <a:t>to Silicon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2221992"/>
            <a:ext cx="4709160" cy="1645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87168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414141"/>
                </a:solidFill>
                <a:latin typeface="Aptos"/>
              </a:defRPr>
            </a:pPr>
            <a:r>
              <a:t>Tracing GPT-2 inference from equations to GPU kernels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017520"/>
            <a:ext cx="566928" cy="50292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735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464646"/>
                </a:solidFill>
                <a:latin typeface="Aptos"/>
              </a:defRPr>
            </a:pPr>
            <a:r>
              <a:t>GPT-2   •   TRANSFORMERS   •   CUDA   •   RUST</a:t>
            </a:r>
          </a:p>
        </p:txBody>
      </p:sp>
      <p:pic>
        <p:nvPicPr>
          <p:cNvPr id="7" name="Picture 6" descr="cover_photo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640080"/>
            <a:ext cx="3886200" cy="4617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43800" y="640080"/>
            <a:ext cx="3886200" cy="4617720"/>
          </a:xfrm>
          <a:prstGeom prst="rect">
            <a:avLst/>
          </a:prstGeom>
          <a:noFill/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29107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96969"/>
                </a:solidFill>
                <a:latin typeface="Aptos"/>
              </a:defRPr>
            </a:pPr>
            <a:r>
              <a:t>Inference  •  attention  •  GEMMs  •  memory  • 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2026-09-26T04:51:58Z</dcterms:created>
  <dcterms:modified xsi:type="dcterms:W3CDTF">2026-09-26T04:51:58Z</dcterms:modified>
</cp:coreProperties>
</file>