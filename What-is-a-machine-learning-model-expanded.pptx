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21"/>
    <p:sldId id="267" r:id="rId22"/>
    <p:sldId id="268" r:id="rId23"/>
    <p:sldId id="269" r:id="rId24"/>
    <p:sldId id="270" r:id="rId2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"/>
      <p:regular r:id="rId201314"/>
    </p:embeddedFont>
    <p:embeddedFont>
      <p:font typeface="Host Grotesk Medium"/>
      <p:regular r:id="rId201315"/>
    </p:embeddedFont>
    <p:embeddedFont>
      <p:font typeface="Host Grotesk SemiBold"/>
      <p:regular r:id="rId201316"/>
    </p:embeddedFont>
    <p:embeddedFont>
      <p:font typeface="Host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714857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What is a machine-learning model?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778794"/>
            <a:ext cx="5714857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82006"/>
            <a:ext cx="5714857" cy="344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67893"/>
            <a:ext cx="5714857" cy="145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x: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input representation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model architecture and computation flow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θ: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learned parameters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y: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prediction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585" y="4194274"/>
            <a:ext cx="5714857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Training vs. Inference: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Training learns θ. Today's focus is inference only: θ is frozen and we evaluate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(note: GPT-2 is decoder-only).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97" y="4540945"/>
            <a:ext cx="176109" cy="26362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380335"/>
            <a:ext cx="5714857" cy="34458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404" y="1114425"/>
            <a:ext cx="3733707" cy="28003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404" y="4156075"/>
            <a:ext cx="2308961" cy="15874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GPT-2 Small: what we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1186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GPT-2 is compact enough to expose the complete computation pipeline on CPU and GPU without distributed complexity.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Execution pipeline: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tokens → embeddings → 12 blocks → ln_f → logits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82727"/>
          <a:ext cx="9143771" cy="914400"/>
        </p:xfrm>
        <a:graphic>
          <a:graphicData uri="http://schemas.openxmlformats.org/drawingml/2006/table">
            <a:tbl>
              <a:tblPr/>
              <a:tblGrid>
                <a:gridCol w="4389010"/>
                <a:gridCol w="6583515"/>
              </a:tblGrid>
              <a:tr h="318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SPECIFICATION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GPT-2 SMALL CONFIGURATION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Parameters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124M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blocks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layers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Hidden size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768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Attention heads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heads × 64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Vocabulary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50,257 tokens (byte-level BPE)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Context window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1,024 tokens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903317"/>
            <a:ext cx="1158211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Scale reference: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124M parameters vs. modern massive models with 100B+ parameters (educational baseline, not a quality ranking).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Text → tokens → vectors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tokenizer maps text to discrete token IDs; embedding lookup turns IDs and sequence positions into dense vectors.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Raw string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"The strangest thing I found inside my refrigerator was"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9081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081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339081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Tokenizer (BPE)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90815" y="3567112"/>
            <a:ext cx="2628834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Fixed mapping produces a sequence of token IDs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815" y="4149923"/>
            <a:ext cx="984126" cy="22750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7204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04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04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Embedding lookup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7204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Token IDs index into learned weight matrices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5327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5327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7"/>
          <p:cNvSpPr/>
          <p:nvPr/>
        </p:nvSpPr>
        <p:spPr>
          <a:xfrm>
            <a:off x="895327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 tensor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95327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Yields matrix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ready for block 0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879" y="3598863"/>
            <a:ext cx="868638" cy="227509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111452"/>
            <a:ext cx="10972526" cy="3445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9585" y="5697339"/>
            <a:ext cx="3657509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170" y="5729089"/>
            <a:ext cx="955155" cy="2224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95688" y="5697339"/>
            <a:ext cx="320032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Position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6004620"/>
            <a:ext cx="868341" cy="222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53196" y="5697339"/>
            <a:ext cx="342891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Tensor shape: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548" y="5729089"/>
            <a:ext cx="598274" cy="227509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260743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7918252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What does a Transformer block actually 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block alternates between communication across tokens and independent computation within each token.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211586"/>
            <a:ext cx="11582110" cy="35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                     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11586"/>
            <a:ext cx="3909121" cy="35728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810173"/>
            <a:ext cx="3608496" cy="19684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4981773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1. Attention (Mix tokens):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Moves information across positions. "was" attends back to "refrigerator" so its vector absorbs context. Causal mask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prevents looking into the future.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697" y="5564584"/>
            <a:ext cx="187320" cy="227509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810173"/>
            <a:ext cx="2590735" cy="145732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5" y="2810173"/>
            <a:ext cx="2590735" cy="14573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48244" y="4470698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r>
              <a:rPr sz="1600" b="1">
                <a:solidFill>
                  <a:srgbClr val="1A1A1A"/>
                </a:solidFill>
                <a:latin typeface="Host Grotesk Bold"/>
              </a:rPr>
              <a:t>2. MLP (Per token):</a:t>
            </a:r>
            <a:r>
              <a:rPr sz="1600" b="0">
                <a:solidFill>
                  <a:srgbClr val="1A1A1A"/>
                </a:solidFill>
                <a:latin typeface="Host Grotesk"/>
              </a:rPr>
              <a:t> Transforms each token independently. Expands to 3072 features, applies GELU, then compresses back to 768.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663" y="4777978"/>
            <a:ext cx="877766" cy="222448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412" y="5053509"/>
            <a:ext cx="877766" cy="22244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From Transformer math to computer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High-level attention equations compile down to four fundamental computer primitives: GEMMs, reductions, elementwise ops, and memory transfers.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10972526" cy="4338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201690"/>
            <a:ext cx="10972526" cy="650577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093567"/>
          <a:ext cx="9143771" cy="914400"/>
        </p:xfrm>
        <a:graphic>
          <a:graphicData uri="http://schemas.openxmlformats.org/drawingml/2006/table">
            <a:tbl>
              <a:tblPr/>
              <a:tblGrid>
                <a:gridCol w="5266812"/>
                <a:gridCol w="5705713"/>
              </a:tblGrid>
              <a:tr h="242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OPERATION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HARDWARE PRIMITIVE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 / K / V &amp; Output Projections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QK^T and Attention × V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Softmax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(max, sum) + elementwise exp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LayerNorm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(mean, var) + elementwise scale/bias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Residual addition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Elementwise add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Embedding lookup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Indexed memory read / gather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139401" cy="1706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Our NumPy reference implementation (cpu/gpt2.py)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682875"/>
            <a:ext cx="3139302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3036887"/>
            <a:ext cx="3139401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line-by-line Python reference that mirrors the exact mathematics and serves as the ground-truth oracle for GPU verification.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146278"/>
            <a:ext cx="3139401" cy="11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Equation → NumPy → future CUDA kernels: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Clean 1-to-1 correspondence between mathematical tensor operations and executable kernels.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72849" y="838200"/>
            <a:ext cx="6309262" cy="5282009"/>
          </a:xfrm>
          <a:prstGeom prst="roundRect">
            <a:avLst>
              <a:gd name="adj" fmla="val 21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516623" y="1041400"/>
            <a:ext cx="5821713" cy="487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w.wte[token_ids] + w.wpe[pos]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qkv = linear(x, c_attn_w, c_attn_b)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 k, v = np.split(qkv, 3,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(qh @ kh.transpose(0, 2, 1)) * scale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   = softmax(scores,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   = attn @ vh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causal_self_attention(h);  x = x + 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gelu_new(linear(h, ...));  x = x + h   # MLP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final_layer_norm(x)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x @ w.wte.T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Decoding: choosing the next token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sz="1600" b="0">
                <a:solidFill>
                  <a:srgbClr val="1A1A1A"/>
                </a:solidFill>
                <a:latin typeface="Host Grotesk"/>
              </a:rPr>
              <a:t>Once we have a probability distribution, decoding turns it into one concrete next token.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6756231" cy="6813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63416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r>
              <a:rPr sz="1600" b="1">
                <a:solidFill>
                  <a:srgbClr val="1A1A1A"/>
                </a:solidFill>
                <a:latin typeface="Host Grotesk Bold"/>
              </a:rPr>
              <a:t>Pipeline: probabilities → decoding strategy → next token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4148832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Decoding strategies: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Greedy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vs. Top-k / Top-p stochastic sampling.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80" y="4180582"/>
            <a:ext cx="681219" cy="254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585" y="4934248"/>
            <a:ext cx="675623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sz="1400" b="0">
                <a:solidFill>
                  <a:srgbClr val="556677"/>
                </a:solidFill>
                <a:latin typeface="Host Grotesk"/>
              </a:rPr>
              <a:t>Inference ends by turning scores into a token; training uses the loss to learn θ.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404743"/>
            <a:ext cx="6756231" cy="43388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509" y="3378795"/>
            <a:ext cx="3682908" cy="16075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Q, K, V: no KV cache (demo) vs. KV cache (production)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Autoregressive decoding generates one token at a time. Caching past Keys and Values avoids recalculating prior token representations.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Single linear projection: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Generates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vectors at each layer.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2051" y="2659856"/>
            <a:ext cx="675762" cy="2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3184327"/>
            <a:ext cx="5333867" cy="1941016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44529" y="34192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run.py (No KV cache)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4529" y="39329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Full forward pass every token, recomputing all past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total work). Directly tied to `--verbose-timing` in our CPU benchmark.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4279602"/>
            <a:ext cx="182657" cy="26362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730" y="4279602"/>
            <a:ext cx="159738" cy="26362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156" y="4279602"/>
            <a:ext cx="533982" cy="26362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48244" y="3184327"/>
            <a:ext cx="5333867" cy="1941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8"/>
          <p:cNvSpPr/>
          <p:nvPr/>
        </p:nvSpPr>
        <p:spPr>
          <a:xfrm>
            <a:off x="6248244" y="3184327"/>
            <a:ext cx="5333867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Shape 9"/>
          <p:cNvSpPr/>
          <p:nvPr/>
        </p:nvSpPr>
        <p:spPr>
          <a:xfrm>
            <a:off x="11575760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16" name="Shape 10"/>
          <p:cNvSpPr/>
          <p:nvPr/>
        </p:nvSpPr>
        <p:spPr>
          <a:xfrm>
            <a:off x="6248244" y="5118993"/>
            <a:ext cx="5333867" cy="6350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17" name="Shape 11"/>
          <p:cNvSpPr/>
          <p:nvPr/>
        </p:nvSpPr>
        <p:spPr>
          <a:xfrm>
            <a:off x="6248244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6483188" y="34319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Production KV cache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483188" y="39456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Stores previous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 GPU VRAM; only new query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attends over the stored history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per step).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578" y="3977382"/>
            <a:ext cx="182657" cy="263624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779" y="3977382"/>
            <a:ext cx="159738" cy="2636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248" y="4292302"/>
            <a:ext cx="406092" cy="263624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8616" y="4292302"/>
            <a:ext cx="454609" cy="263624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5366643"/>
            <a:ext cx="761981" cy="10160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Why GPU + CUDA execution: mapping GEMMs to silicon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CPUs optimize for low-latency serial execution; GPUs dedicate silicon to massive SIMT parallel throughput for independent matrix tiles.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2709199" cy="2031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713982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GEMM parallelism: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Each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computed independently across thousands of GPU cores.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74" y="4745732"/>
            <a:ext cx="1264114" cy="2338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5420618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 execution hierarchy: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Kernel launch → Grid → Thread Blocks → Warps (32 threads) → Individual Threads.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526506"/>
            <a:ext cx="2709199" cy="20319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8244" y="4713982"/>
            <a:ext cx="5333867" cy="1533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Memory hierarchy &amp; tiling: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matrices are broken into tiles; threads cooperate via registers, shared memory, and L1/L2 caches to minimize global DRAM traffic.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CUDA-Oxide note: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Targets these same hardware kernels via Rust and NVIDIA's `cargo oxide` toolchain.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spc="-14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Same math, three runtimes + live CPU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558131"/>
            <a:ext cx="10972526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Same GPT-2 weights, same mathematical operations, implemented across three execution systems to verify numerical logits and measure performance.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39677"/>
          <a:ext cx="9143771" cy="914400"/>
        </p:xfrm>
        <a:graphic>
          <a:graphicData uri="http://schemas.openxmlformats.org/drawingml/2006/table">
            <a:tbl>
              <a:tblPr/>
              <a:tblGrid>
                <a:gridCol w="2084780"/>
                <a:gridCol w="2084780"/>
                <a:gridCol w="1755604"/>
                <a:gridCol w="1975055"/>
                <a:gridCol w="1536154"/>
                <a:gridCol w="1536154"/>
              </a:tblGrid>
              <a:tr h="611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RUNTIME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EXECUTION UNIT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PREFILL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DECODE THROUGHPUT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P50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P95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9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NumPy reference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CPU (x86_64)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 C++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(NVCC)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CUDA-Oxide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(Rust SIMT)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4992191"/>
            <a:ext cx="7111822" cy="1900734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37683" y="5182295"/>
            <a:ext cx="6655626" cy="1520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demonstration trace: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verify                 # Assert logits match within tolerance (logits_CPU ≈ logits_GPU)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--prompt "The strangest thing I found inside my refrigerator was" --verbose-timing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26199" y="4778375"/>
            <a:ext cx="3555911" cy="1633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Live demonstration: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Run prompt on CPU oracle → compare logits → generate tokens → inspect `--verbose-timing`.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Status: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CPU oracle live today; GPU paths (CUDA C++ &amp; CUDA-Oxide) target identical math on NVIDIA hardware.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5124" y="6451898"/>
            <a:ext cx="826571" cy="202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85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Why not just stack linear layers?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Matrix multiplication is powerful — but without a nonlinearity, depth collapses.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11430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600" b="1">
                <a:solidFill>
                  <a:srgbClr val="1A1A1A"/>
                </a:solidFill>
                <a:latin typeface="Host Grotesk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16352"/>
            <a:ext cx="1143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200" b="0">
                <a:solidFill>
                  <a:srgbClr val="556677"/>
                </a:solidFill>
                <a:latin typeface="Host Grotesk"/>
              </a:rPr>
              <a:t>768 features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19" y="2578608"/>
            <a:ext cx="548641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2" y="2057400"/>
            <a:ext cx="2057400" cy="1051560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200" b="1">
                <a:solidFill>
                  <a:srgbClr val="1A1A1A"/>
                </a:solidFill>
                <a:latin typeface="Host Grotesk"/>
              </a:rPr>
              <a:t>W₁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6852" y="2340864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3072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9291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15512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51731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0632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06852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3072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9291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5512" y="2502408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51731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0632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06852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3072" y="2663952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9291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5512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51731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51176" y="3209544"/>
            <a:ext cx="1856231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3072 × 768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45152" y="2578608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75504" y="2176272"/>
            <a:ext cx="1417320" cy="804672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3072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81528"/>
            <a:ext cx="1490472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intermediate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20256" y="2578608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150608" y="2057400"/>
            <a:ext cx="2057400" cy="1051560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200" b="1">
                <a:solidFill>
                  <a:srgbClr val="1A1A1A"/>
                </a:solidFill>
                <a:latin typeface="Host Grotesk"/>
              </a:rPr>
              <a:t>W₂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7064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06867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08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930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5528" y="2340864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5174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7064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06867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43088" y="2502408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7930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552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5174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7064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06867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4308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7930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552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51748" y="2663952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51192" y="3209544"/>
            <a:ext cx="1856231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768 × 3072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345168" y="2578608"/>
            <a:ext cx="54864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930384" y="2331720"/>
            <a:ext cx="11430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600" b="1">
                <a:solidFill>
                  <a:srgbClr val="1A1A1A"/>
                </a:solidFill>
                <a:latin typeface="Host Grotesk"/>
              </a:rPr>
              <a:t>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30384" y="2816352"/>
            <a:ext cx="1143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200" b="0">
                <a:solidFill>
                  <a:srgbClr val="556677"/>
                </a:solidFill>
                <a:latin typeface="Host Grotesk"/>
              </a:rPr>
              <a:t>768 features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232" y="4005072"/>
            <a:ext cx="6583680" cy="658368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600" b="0">
                <a:solidFill>
                  <a:srgbClr val="1A1A1A"/>
                </a:solidFill>
                <a:latin typeface="Cambria Math"/>
              </a:rPr>
              <a:t>W₂(W₁x) = (W₂W₁)x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9" y="3840480"/>
            <a:ext cx="3977639" cy="1005840"/>
          </a:xfrm>
          <a:prstGeom prst="roundRect">
            <a:avLst/>
          </a:prstGeom>
          <a:solidFill>
            <a:srgbClr val="FBF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700" b="1">
                <a:solidFill>
                  <a:srgbClr val="1A1A1A"/>
                </a:solidFill>
                <a:latin typeface="Host Grotesk"/>
              </a:rPr>
              <a:t>Two linear layers can be collapsed into one linear transformation.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" y="4965192"/>
            <a:ext cx="3429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1A1A1A"/>
                </a:solidFill>
                <a:latin typeface="Host Grotesk"/>
              </a:rPr>
              <a:t>Linear layer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 = learned matrix multiplication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0832" y="4965192"/>
            <a:ext cx="3429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No nonlinearity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 → no extra expressive power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73568" y="4965192"/>
            <a:ext cx="3429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5D8A6D"/>
                </a:solidFill>
                <a:latin typeface="Host Grotesk"/>
              </a:rPr>
              <a:t>GELU breaks the collapse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 by making the composition nonlinear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What the MLP is actually doing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One token expands into a larger feature space, gets a nonlinear transform, then comes back to 768.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322576"/>
            <a:ext cx="1417320" cy="868680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100" b="1">
                <a:solidFill>
                  <a:srgbClr val="1A1A1A"/>
                </a:solidFill>
                <a:latin typeface="Host Grotesk"/>
              </a:rPr>
              <a:t>768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27832"/>
            <a:ext cx="14173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token vector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04288" y="2752344"/>
            <a:ext cx="45720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2157984"/>
            <a:ext cx="1810512" cy="120700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W₁
3072 × 768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7448" y="275234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48656" y="2322576"/>
            <a:ext cx="1444752" cy="868680"/>
          </a:xfrm>
          <a:prstGeom prst="roundRect">
            <a:avLst/>
          </a:prstGeom>
          <a:solidFill>
            <a:srgbClr val="FBF1CE"/>
          </a:solidFill>
          <a:ln>
            <a:solidFill>
              <a:srgbClr val="FBF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100" b="1">
                <a:solidFill>
                  <a:srgbClr val="1A1A1A"/>
                </a:solidFill>
                <a:latin typeface="Host Grotesk"/>
              </a:rPr>
              <a:t>3072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656" y="3227832"/>
            <a:ext cx="14447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21424" y="275234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2631" y="2157984"/>
            <a:ext cx="1417320" cy="1207008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700" b="1">
                <a:solidFill>
                  <a:srgbClr val="1A1A1A"/>
                </a:solidFill>
                <a:latin typeface="Host Grotesk"/>
              </a:rPr>
              <a:t>GELU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9208" y="3227832"/>
            <a:ext cx="135331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nonlinearity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97112" y="275234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2157984"/>
            <a:ext cx="1810512" cy="120700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W₂
768 × 3072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228832" y="2752344"/>
            <a:ext cx="9144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356848" y="2322576"/>
            <a:ext cx="731520" cy="868680"/>
          </a:xfrm>
          <a:prstGeom prst="roundRect">
            <a:avLst/>
          </a:prstGeom>
          <a:solidFill>
            <a:srgbClr val="E6F0E8"/>
          </a:solidFill>
          <a:ln>
            <a:solidFill>
              <a:srgbClr val="E6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768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60520"/>
            <a:ext cx="50749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Example: a few of the 3072 intermediate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2.40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06624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−0.30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0.02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0256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5.10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4526280"/>
            <a:ext cx="2651760" cy="822960"/>
          </a:xfrm>
          <a:prstGeom prst="roundRect">
            <a:avLst/>
          </a:prstGeom>
          <a:solidFill>
            <a:srgbClr val="F5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500" b="0">
                <a:solidFill>
                  <a:srgbClr val="1A1A1A"/>
                </a:solidFill>
                <a:latin typeface="Cambria Math"/>
              </a:rPr>
              <a:t>↓ GELU
[2.38, −0.11, 0.01, 5.10, …]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532120"/>
            <a:ext cx="54406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GELU is not normalization. 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It adds the nonlinearity that makes the two linear layers more expressive together.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5532120"/>
            <a:ext cx="51206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0">
                <a:solidFill>
                  <a:srgbClr val="556677"/>
                </a:solidFill>
                <a:latin typeface="Host Grotesk"/>
              </a:rPr>
              <a:t>Every token follows this path independently; attention is the part that mixes tokens.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LayerNorm: keep activations in a workable range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In GPT-2, LayerNorm is applied across the 768 features of each token before the attention and MLP sublayers.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76272"/>
            <a:ext cx="37947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One token, before LayerNorm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64207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56432"/>
            <a:ext cx="37947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0">
                <a:solidFill>
                  <a:srgbClr val="556677"/>
                </a:solidFill>
                <a:latin typeface="Host Grotesk"/>
              </a:rPr>
              <a:t>mean = 5.00    std ≈ 2.24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3931920"/>
            <a:ext cx="0" cy="475488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4059936"/>
            <a:ext cx="3794760" cy="320040"/>
          </a:xfrm>
          <a:prstGeom prst="roundRect">
            <a:avLst/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0">
                <a:solidFill>
                  <a:srgbClr val="1A1A1A"/>
                </a:solidFill>
                <a:latin typeface="Cambria Math"/>
              </a:rPr>
              <a:t>Normalize: (x − μ) / √(σ² + 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53712"/>
            <a:ext cx="37947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Host Grotesk"/>
              </a:rPr>
              <a:t>≈  [−1.34, −0.45, 0.45, 1.34]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176272"/>
            <a:ext cx="6263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Then the model can learn its preferred scale and offset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2743200"/>
            <a:ext cx="1298448" cy="749808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normalized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3118104"/>
            <a:ext cx="438912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22592" y="2743200"/>
            <a:ext cx="1298448" cy="749808"/>
          </a:xfrm>
          <a:prstGeom prst="roundRect">
            <a:avLst/>
          </a:prstGeom>
          <a:solidFill>
            <a:srgbClr val="FBF1CE"/>
          </a:solidFill>
          <a:ln>
            <a:solidFill>
              <a:srgbClr val="FBF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3448" y="3547872"/>
            <a:ext cx="13258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scale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21624" y="3118104"/>
            <a:ext cx="438912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06256" y="2743200"/>
            <a:ext cx="1298448" cy="749808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7112" y="3547872"/>
            <a:ext cx="13258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offset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05288" y="3118104"/>
            <a:ext cx="41148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753344" y="2743200"/>
            <a:ext cx="667512" cy="749808"/>
          </a:xfrm>
          <a:prstGeom prst="roundRect">
            <a:avLst/>
          </a:prstGeom>
          <a:solidFill>
            <a:srgbClr val="E6F0E8"/>
          </a:solidFill>
          <a:ln>
            <a:solidFill>
              <a:srgbClr val="E6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3208" y="4224528"/>
            <a:ext cx="6236208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Where it sits in the GPT-2 block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663440"/>
            <a:ext cx="1874519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LayerNorm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0" y="499262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53527" y="4663440"/>
            <a:ext cx="1417320" cy="658368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Attention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62288" y="499262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83496" y="4663440"/>
            <a:ext cx="96012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200" b="1">
                <a:solidFill>
                  <a:srgbClr val="1A1A1A"/>
                </a:solidFill>
                <a:latin typeface="Host Grotesk"/>
              </a:rPr>
              <a:t>+ residual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5541264"/>
            <a:ext cx="5522976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0">
                <a:solidFill>
                  <a:srgbClr val="556677"/>
                </a:solidFill>
                <a:latin typeface="Host Grotesk"/>
              </a:rPr>
              <a:t>Then the same pattern repeats for the MLP: LayerNorm → MLP → + residual.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5358384"/>
            <a:ext cx="376732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Key idea: 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normalization stabilizes scale; γ and β remain trainable.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Logits: the model’s raw scores for the next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The final projection turns the current 768-dimensional representation into one score for every vocabulary entry.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249424"/>
            <a:ext cx="1280160" cy="786384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768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642616"/>
            <a:ext cx="466344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70048" y="2084831"/>
            <a:ext cx="2148840" cy="11155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W_out
≈ 50,257 × 768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46904" y="2642616"/>
            <a:ext cx="466344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68112" y="2249424"/>
            <a:ext cx="1883664" cy="786384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50,257 logits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2286000"/>
            <a:ext cx="3886200" cy="658368"/>
          </a:xfrm>
          <a:prstGeom prst="roundRect">
            <a:avLst/>
          </a:prstGeom>
          <a:solidFill>
            <a:srgbClr val="FBF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Host Grotesk"/>
              </a:rPr>
              <a:t>One number per token in the vocabulary.
Logits are not probabilities.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611880"/>
            <a:ext cx="106527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Illustrative logits for five candidate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050791"/>
            <a:ext cx="1783080" cy="1051560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“a”
2.1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4050791"/>
            <a:ext cx="1783080" cy="1051560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“the”
1.8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4050791"/>
            <a:ext cx="1783080" cy="1051560"/>
          </a:xfrm>
          <a:prstGeom prst="roundRect">
            <a:avLst/>
          </a:prstGeom>
          <a:solidFill>
            <a:srgbClr val="F4F5F6"/>
          </a:solidFill>
          <a:ln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“my”
0.3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4050791"/>
            <a:ext cx="1783080" cy="1051560"/>
          </a:xfrm>
          <a:prstGeom prst="roundRect">
            <a:avLst/>
          </a:prstGeom>
          <a:solidFill>
            <a:srgbClr val="F4F5F6"/>
          </a:solidFill>
          <a:ln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“that”
0.2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050791"/>
            <a:ext cx="1783080" cy="1051560"/>
          </a:xfrm>
          <a:prstGeom prst="roundRect">
            <a:avLst/>
          </a:prstGeom>
          <a:solidFill>
            <a:srgbClr val="F4F5F6"/>
          </a:solidFill>
          <a:ln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“an”
0.0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413248"/>
            <a:ext cx="640080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400" b="1">
                <a:solidFill>
                  <a:srgbClr val="1A1A1A"/>
                </a:solidFill>
                <a:latin typeface="Host Grotesk"/>
              </a:rPr>
              <a:t>Higher logit </a:t>
            </a:r>
            <a:r>
              <a:rPr sz="1400" b="0">
                <a:solidFill>
                  <a:srgbClr val="1A1A1A"/>
                </a:solidFill>
                <a:latin typeface="Host Grotesk"/>
              </a:rPr>
              <a:t>means the model scores that token more strongly relative to the others.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5413248"/>
            <a:ext cx="38587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400" b="0">
                <a:solidFill>
                  <a:srgbClr val="556677"/>
                </a:solidFill>
                <a:latin typeface="Host Grotesk"/>
              </a:rPr>
              <a:t>They can be negative, zero, or positive. Softmax comes next if we want probabilities.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6080760"/>
            <a:ext cx="10607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100" b="0">
                <a:solidFill>
                  <a:srgbClr val="556677"/>
                </a:solidFill>
                <a:latin typeface="Consolas"/>
              </a:rPr>
              <a:t>GPT-2 reference code:  logits = x @ w.wte.T  (output projection tied to the token-embedding weights)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From logits to probabilities — then to a learning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Softmax turns relative scores into a distribution; cross-entropy asks how much probability the model gave the correct token.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2103120"/>
            <a:ext cx="5074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Softmax: convert scores into probabilities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32888"/>
            <a:ext cx="5074920" cy="420624"/>
          </a:xfrm>
          <a:prstGeom prst="roundRect">
            <a:avLst/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300" b="0">
                <a:solidFill>
                  <a:srgbClr val="1A1A1A"/>
                </a:solidFill>
                <a:latin typeface="Cambria Math"/>
              </a:rPr>
              <a:t>pᵢ = e^{zᵢ} / Σⱼ e^{zⱼ}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090672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3090672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2.1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3090672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3090672"/>
            <a:ext cx="820216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3090672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3483864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the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17904" y="3483864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1.8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58568" y="3483864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3483864"/>
            <a:ext cx="606247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3483864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3877056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7904" y="3877056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0.3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58568" y="3877056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5848" y="3877056"/>
            <a:ext cx="142646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3877056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270248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that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7904" y="4270248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0.2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58568" y="4270248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5848" y="4270248"/>
            <a:ext cx="124815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230368" y="4270248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663440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17904" y="4663440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0.0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58568" y="4663440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4663440"/>
            <a:ext cx="106984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4663440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3328" y="2103120"/>
            <a:ext cx="52120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Loss for one training target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9904" y="2615184"/>
            <a:ext cx="5102352" cy="877824"/>
          </a:xfrm>
          <a:prstGeom prst="roundRect">
            <a:avLst/>
          </a:prstGeom>
          <a:solidFill>
            <a:srgbClr val="F5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0">
                <a:solidFill>
                  <a:srgbClr val="1A1A1A"/>
                </a:solidFill>
                <a:latin typeface="Cambria Math"/>
              </a:rPr>
              <a:t>Correct token = “a”
P(correct) = 0.46
L = −log(0.46) ≈ 0.78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9904" y="3803904"/>
            <a:ext cx="5102352" cy="512064"/>
          </a:xfrm>
          <a:prstGeom prst="roundRect">
            <a:avLst/>
          </a:prstGeom>
          <a:solidFill>
            <a:srgbClr val="FBF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Low loss  ⇔  high probability on the correct token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956048"/>
            <a:ext cx="10561320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Across a sequence, probabilities multiply: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" y="5303520"/>
            <a:ext cx="5047488" cy="53035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000" b="0">
                <a:solidFill>
                  <a:srgbClr val="1A1A1A"/>
                </a:solidFill>
                <a:latin typeface="Cambria Math"/>
              </a:rPr>
              <a:t>0.8 × 0.6 × 0.9 = 0.432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9904" y="5303520"/>
            <a:ext cx="5093208" cy="530352"/>
          </a:xfrm>
          <a:prstGeom prst="roundRect">
            <a:avLst/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700" b="0">
                <a:solidFill>
                  <a:srgbClr val="1A1A1A"/>
                </a:solidFill>
                <a:latin typeface="Cambria Math"/>
              </a:rPr>
              <a:t>−log(0.432) = −log(0.8) − log(0.6) − log(0.9) ≈ 0.84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5943600"/>
            <a:ext cx="1039672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Why the log? 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It turns a product of probabilities into a sum of per-token losses — much easier to optimize numerically.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2026-09-26T04:51:58Z</dcterms:created>
  <dcterms:modified xsi:type="dcterms:W3CDTF">2026-09-26T04:51:58Z</dcterms:modified>
</cp:coreProperties>
</file>