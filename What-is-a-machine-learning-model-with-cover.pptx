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21"/>
    <p:sldId id="267" r:id="rId22"/>
    <p:sldId id="268" r:id="rId23"/>
    <p:sldId id="269" r:id="rId24"/>
    <p:sldId id="270" r:id="rId2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Host Grotesk"/>
      <p:regular r:id="rId201314"/>
    </p:embeddedFont>
    <p:embeddedFont>
      <p:font typeface="Host Grotesk Medium"/>
      <p:regular r:id="rId201315"/>
    </p:embeddedFont>
    <p:embeddedFont>
      <p:font typeface="Host Grotesk SemiBold"/>
      <p:regular r:id="rId201316"/>
    </p:embeddedFont>
    <p:embeddedFont>
      <p:font typeface="Host Grotesk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10.xml"/><Relationship Id="rId7" Type="http://schemas.openxmlformats.org/officeDocument/2006/relationships/slide" Target="slides/slide11.xml"/><Relationship Id="rId8" Type="http://schemas.openxmlformats.org/officeDocument/2006/relationships/slide" Target="slides/slide12.xml"/><Relationship Id="rId9" Type="http://schemas.openxmlformats.org/officeDocument/2006/relationships/slide" Target="slides/slide13.xml"/><Relationship Id="rId10" Type="http://schemas.openxmlformats.org/officeDocument/2006/relationships/slide" Target="slides/slide14.xml"/><Relationship Id="rId11" Type="http://schemas.openxmlformats.org/officeDocument/2006/relationships/slide" Target="slides/slide15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jpeg"/><Relationship Id="rId5" Type="http://schemas.openxmlformats.org/officeDocument/2006/relationships/image" Target="../media/image-1-5.jpe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Relationship Id="rId8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image" Target="../media/image-4-3.png"/><Relationship Id="rId4" Type="http://schemas.openxmlformats.org/officeDocument/2006/relationships/image" Target="../media/image-4-4.jpe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2.png"/><Relationship Id="rId6" Type="http://schemas.openxmlformats.org/officeDocument/2006/relationships/image" Target="../media/image-8-3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jpe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58368"/>
            <a:ext cx="6583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0">
                <a:solidFill>
                  <a:srgbClr val="191919"/>
                </a:solidFill>
                <a:latin typeface="Host Grotesk SemiBold"/>
              </a:rPr>
              <a:t>What is a machine-learning model?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938528"/>
            <a:ext cx="6492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464646"/>
                </a:solidFill>
                <a:latin typeface="Host Grotesk"/>
              </a:rPr>
              <a:t>From tokens and embeddings to Transformers, logits, and CUDA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70632"/>
            <a:ext cx="6172200" cy="2286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136392"/>
            <a:ext cx="6035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0">
                <a:solidFill>
                  <a:srgbClr val="1E1E1E"/>
                </a:solidFill>
                <a:latin typeface="Cambria Math"/>
              </a:rPr>
              <a:t>y = fθ(x)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31920"/>
            <a:ext cx="6217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191919"/>
                </a:solidFill>
                <a:latin typeface="Host Grotesk SemiBold"/>
              </a:rPr>
              <a:t>A concrete walkthrough using GPT-2 Small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407408"/>
            <a:ext cx="6126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F5F5F"/>
                </a:solidFill>
                <a:latin typeface="Host Grotesk"/>
              </a:rPr>
              <a:t>Inference pipeline  •  Transformer internals  •  GPU 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819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87878"/>
                </a:solidFill>
                <a:latin typeface="Host Grotesk"/>
              </a:rPr>
              <a:t>01</a:t>
            </a:r>
          </a:p>
        </p:txBody>
      </p:sp>
      <p:pic>
        <p:nvPicPr>
          <p:cNvPr id="9" name="Picture 8" descr="cover_phot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2127" y="658368"/>
            <a:ext cx="3767328" cy="55046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82127" y="6217920"/>
            <a:ext cx="37673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737373"/>
                </a:solidFill>
                <a:latin typeface="Host Grotesk SemiBold"/>
              </a:rPr>
              <a:t>WHAT IS INSIDE THE MODEL?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1A1A1A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GPT-2 Small: what we run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35215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655366"/>
            <a:ext cx="10972526" cy="1186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spcAft>
                <a:spcPts val="185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GPT-2 is compact enough to expose the complete computation pipeline on CPU and GPU without distributed complexity.</a:t>
            </a:r>
            <a:endParaRPr lang="en-US" sz="16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Execution pipeline: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tokens → embeddings → 12 blocks → ln_f → logits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3082727"/>
          <a:ext cx="9143771" cy="914400"/>
        </p:xfrm>
        <a:graphic>
          <a:graphicData uri="http://schemas.openxmlformats.org/drawingml/2006/table">
            <a:tbl>
              <a:tblPr/>
              <a:tblGrid>
                <a:gridCol w="4389010"/>
                <a:gridCol w="6583515"/>
              </a:tblGrid>
              <a:tr h="3186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spc="120" kern="0" dirty="0">
                          <a:solidFill>
                            <a:srgbClr val="556677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SPECIFICATION</a:t>
                      </a:r>
                      <a:endParaRPr lang="en-US" sz="12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spc="120" kern="0" dirty="0">
                          <a:solidFill>
                            <a:srgbClr val="556677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GPT-2 SMALL CONFIGURATION</a:t>
                      </a:r>
                      <a:endParaRPr lang="en-US" sz="12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Parameters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124M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Transformer blocks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12 layers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Hidden size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768 dimensions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Attention heads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12 heads × 64 dimensions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Vocabulary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50,257 tokens (byte-level BPE)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14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Context window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1,024 tokens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8099" marB="380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5903317"/>
            <a:ext cx="11582110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Scale reference: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124M parameters vs. modern massive models with 100B+ parameters (educational baseline, not a quality ranking).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1A1A1A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Text → tokens → vectors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40295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756966"/>
            <a:ext cx="10972526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The tokenizer maps text to discrete token IDs; embedding lookup turns IDs and sequence positions into dense vectors.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2628106"/>
            <a:ext cx="87379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556677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585" y="2912566"/>
            <a:ext cx="2628834" cy="1905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3053457"/>
            <a:ext cx="2628834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Raw string input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9585" y="3567112"/>
            <a:ext cx="2628834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"The strangest thing I found inside my refrigerator was"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90815" y="2628106"/>
            <a:ext cx="87379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556677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90815" y="2912566"/>
            <a:ext cx="2628834" cy="1905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1" name="Text 9"/>
          <p:cNvSpPr/>
          <p:nvPr/>
        </p:nvSpPr>
        <p:spPr>
          <a:xfrm>
            <a:off x="3390815" y="3053457"/>
            <a:ext cx="2628834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Tokenizer (BPE)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90815" y="3567112"/>
            <a:ext cx="2628834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Fixed mapping produces a sequence of token IDs </a:t>
            </a:r>
            <a:pPr algn="l" indent="0" marL="0">
              <a:lnSpc>
                <a:spcPct val="129000"/>
              </a:lnSpc>
              <a:buNone/>
            </a:pPr>
            <a:r>
              <a:rPr lang="en-US" sz="13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</a:t>
            </a:r>
            <a:endParaRPr lang="en-US" sz="1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0815" y="4149923"/>
            <a:ext cx="984126" cy="22750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172046" y="2628106"/>
            <a:ext cx="87379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556677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172046" y="2912566"/>
            <a:ext cx="2628834" cy="1905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6" name="Text 13"/>
          <p:cNvSpPr/>
          <p:nvPr/>
        </p:nvSpPr>
        <p:spPr>
          <a:xfrm>
            <a:off x="6172046" y="3053457"/>
            <a:ext cx="2628834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Embedding lookup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172046" y="3567112"/>
            <a:ext cx="2628834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Token IDs index into learned weight matrices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953276" y="2628106"/>
            <a:ext cx="87379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556677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953276" y="2912566"/>
            <a:ext cx="2628834" cy="1905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0" name="Text 17"/>
          <p:cNvSpPr/>
          <p:nvPr/>
        </p:nvSpPr>
        <p:spPr>
          <a:xfrm>
            <a:off x="8953276" y="3053457"/>
            <a:ext cx="2628834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Input tensor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953276" y="3567112"/>
            <a:ext cx="2628834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Yields matrix </a:t>
            </a:r>
            <a:pPr algn="l" indent="0" marL="0">
              <a:lnSpc>
                <a:spcPct val="129000"/>
              </a:lnSpc>
              <a:buNone/>
            </a:pPr>
            <a:r>
              <a:rPr lang="en-US" sz="13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ready for block 0</a:t>
            </a:r>
            <a:endParaRPr lang="en-US" sz="14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6879" y="3598863"/>
            <a:ext cx="868638" cy="227509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5111452"/>
            <a:ext cx="10972526" cy="34458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09585" y="5697339"/>
            <a:ext cx="3657509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W_te: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Token embeddings (</a:t>
            </a:r>
            <a:pPr algn="l" indent="0" marL="0">
              <a:lnSpc>
                <a:spcPct val="129000"/>
              </a:lnSpc>
              <a:buNone/>
            </a:pPr>
            <a:r>
              <a:rPr lang="en-US" sz="13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)</a:t>
            </a:r>
            <a:endParaRPr lang="en-US" sz="14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4170" y="5729089"/>
            <a:ext cx="955155" cy="2224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495688" y="5697339"/>
            <a:ext cx="3200320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W_pe: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Position embeddings (</a:t>
            </a:r>
            <a:pPr algn="l" indent="0" marL="0">
              <a:lnSpc>
                <a:spcPct val="129000"/>
              </a:lnSpc>
              <a:buNone/>
            </a:pPr>
            <a:r>
              <a:rPr lang="en-US" sz="13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)</a:t>
            </a:r>
            <a:endParaRPr lang="en-US" sz="14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5688" y="6004620"/>
            <a:ext cx="868341" cy="2224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153196" y="5697339"/>
            <a:ext cx="3428914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Tensor shape: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</a:t>
            </a:r>
            <a:pPr algn="l" indent="0" marL="0">
              <a:lnSpc>
                <a:spcPct val="129000"/>
              </a:lnSpc>
              <a:buNone/>
            </a:pPr>
            <a:r>
              <a:rPr lang="en-US" sz="13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</a:t>
            </a:r>
            <a:endParaRPr lang="en-US" sz="14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6548" y="5729089"/>
            <a:ext cx="598274" cy="227509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4260743" y="5697339"/>
            <a:ext cx="12700" cy="551061"/>
          </a:xfrm>
          <a:prstGeom prst="rect">
            <a:avLst/>
          </a:prstGeom>
          <a:solidFill>
            <a:srgbClr val="1A1A1A">
              <a:alpha val="12000"/>
            </a:srgbClr>
          </a:solidFill>
          <a:ln/>
        </p:spPr>
      </p:sp>
      <p:sp>
        <p:nvSpPr>
          <p:cNvPr id="31" name="Shape 23"/>
          <p:cNvSpPr/>
          <p:nvPr/>
        </p:nvSpPr>
        <p:spPr>
          <a:xfrm>
            <a:off x="7918252" y="5697339"/>
            <a:ext cx="12700" cy="551061"/>
          </a:xfrm>
          <a:prstGeom prst="rect">
            <a:avLst/>
          </a:prstGeom>
          <a:solidFill>
            <a:srgbClr val="1A1A1A">
              <a:alpha val="12000"/>
            </a:srgbClr>
          </a:solidFill>
          <a:ln/>
        </p:spPr>
      </p:sp>
      <p:sp>
        <p:nvSpPr>
          <p:cNvPr id="32" name="Text 24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1A1A1A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What does a Transformer block actually do?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35215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09585" y="1655366"/>
            <a:ext cx="1158211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 block alternates between communication across tokens and independent computation within each token.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2211586"/>
            <a:ext cx="11582110" cy="357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                     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211586"/>
            <a:ext cx="3909121" cy="357287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2810173"/>
            <a:ext cx="3608496" cy="19684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9585" y="4981773"/>
            <a:ext cx="5333867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1. Attention (Mix tokens):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Moves information across positions. "was" attends back to "refrigerator" so its vector absorbs context. Causal mask </a:t>
            </a:r>
            <a:pPr algn="l" indent="0" marL="0">
              <a:lnSpc>
                <a:spcPct val="129000"/>
              </a:lnSpc>
              <a:buNone/>
            </a:pPr>
            <a:r>
              <a:rPr lang="en-US" sz="13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prevents looking into the future.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5697" y="5564584"/>
            <a:ext cx="187320" cy="227509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244" y="2810173"/>
            <a:ext cx="2590735" cy="1457325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1375" y="2810173"/>
            <a:ext cx="2590735" cy="145732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248244" y="4470698"/>
            <a:ext cx="5333867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pPr algn="l" indent="0" marL="0">
              <a:lnSpc>
                <a:spcPct val="129000"/>
              </a:lnSpc>
              <a:buNone/>
            </a:pPr>
            <a:pPr algn="l" indent="0" marL="0">
              <a:lnSpc>
                <a:spcPct val="129000"/>
              </a:lnSpc>
              <a:buNone/>
            </a:pPr>
            <a:pPr algn="l" indent="0" marL="0">
              <a:lnSpc>
                <a:spcPct val="129000"/>
              </a:lnSpc>
              <a:buNone/>
            </a:pPr>
            <a:pPr algn="l" indent="0" marL="0">
              <a:lnSpc>
                <a:spcPct val="129000"/>
              </a:lnSpc>
              <a:buNone/>
            </a:pPr>
            <a:pPr algn="l" indent="0" marL="0">
              <a:lnSpc>
                <a:spcPct val="129000"/>
              </a:lnSpc>
              <a:buNone/>
            </a:pPr>
            <a:r>
              <a:rPr sz="1600" b="1">
                <a:solidFill>
                  <a:srgbClr val="1A1A1A"/>
                </a:solidFill>
                <a:latin typeface="Host Grotesk Bold"/>
              </a:rPr>
              <a:t>2. MLP (Per token):</a:t>
            </a:r>
            <a:r>
              <a:rPr sz="1600" b="0">
                <a:solidFill>
                  <a:srgbClr val="1A1A1A"/>
                </a:solidFill>
                <a:latin typeface="Host Grotesk"/>
              </a:rPr>
              <a:t> Transforms each token independently. Expands to 3072 features, applies GELU, then compresses back to 768.</a:t>
            </a:r>
            <a:endParaRPr lang="en-US" sz="14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6663" y="4777978"/>
            <a:ext cx="877766" cy="222448"/>
          </a:xfrm>
          <a:prstGeom prst="rect">
            <a:avLst/>
          </a:prstGeom>
        </p:spPr>
      </p:pic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5412" y="5053509"/>
            <a:ext cx="877766" cy="222448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904" y="609904"/>
            <a:ext cx="10972800" cy="427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3000" b="0">
                <a:solidFill>
                  <a:srgbClr val="1A1A1A"/>
                </a:solidFill>
                <a:latin typeface="Host Grotesk SemiBold"/>
              </a:rPr>
              <a:t>Why not just stack linear layers?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904" y="1352397"/>
            <a:ext cx="10972800" cy="12801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600" b="0">
                <a:solidFill>
                  <a:srgbClr val="1A1A1A"/>
                </a:solidFill>
                <a:latin typeface="Host Grotesk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1627632"/>
            <a:ext cx="10972800" cy="5303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600" b="0">
                <a:solidFill>
                  <a:srgbClr val="1A1A1A"/>
                </a:solidFill>
                <a:latin typeface="Host Grotesk"/>
              </a:rPr>
              <a:t>Matrix multiplication is powerful — but without a nonlinearity, depth collapses.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50447" y="6444691"/>
            <a:ext cx="841248" cy="2167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r"/>
            <a:r>
              <a:rPr sz="1100" b="0">
                <a:solidFill>
                  <a:srgbClr val="1A1A1A"/>
                </a:solidFill>
                <a:latin typeface="Host Grotesk Medium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331720"/>
            <a:ext cx="1143000" cy="4754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2600" b="1">
                <a:solidFill>
                  <a:srgbClr val="1A1A1A"/>
                </a:solidFill>
                <a:latin typeface="Host Grotesk"/>
              </a:rPr>
              <a:t>x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816352"/>
            <a:ext cx="1143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200" b="0">
                <a:solidFill>
                  <a:srgbClr val="556677"/>
                </a:solidFill>
                <a:latin typeface="Host Grotesk"/>
              </a:rPr>
              <a:t>768 features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4519" y="2578608"/>
            <a:ext cx="548641" cy="0"/>
          </a:xfrm>
          <a:prstGeom prst="line">
            <a:avLst/>
          </a:prstGeom>
          <a:ln w="2032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50592" y="2057400"/>
            <a:ext cx="2057400" cy="1051560"/>
          </a:xfrm>
          <a:prstGeom prst="roundRect">
            <a:avLst/>
          </a:prstGeom>
          <a:solidFill>
            <a:srgbClr val="E8EDF6"/>
          </a:solidFill>
          <a:ln>
            <a:solidFill>
              <a:srgbClr val="E8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2200" b="1">
                <a:solidFill>
                  <a:srgbClr val="1A1A1A"/>
                </a:solidFill>
                <a:latin typeface="Host Grotesk"/>
              </a:rPr>
              <a:t>W₁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70632" y="2340864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06852" y="2340864"/>
            <a:ext cx="236220" cy="161544"/>
          </a:xfrm>
          <a:prstGeom prst="rect">
            <a:avLst/>
          </a:prstGeom>
          <a:solidFill>
            <a:srgbClr val="F5E4D8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3072" y="2340864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9291" y="2340864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15512" y="2340864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51731" y="2340864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70632" y="2502408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06852" y="2502408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43072" y="2502408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79291" y="2502408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15512" y="2502408"/>
            <a:ext cx="236220" cy="161544"/>
          </a:xfrm>
          <a:prstGeom prst="rect">
            <a:avLst/>
          </a:prstGeom>
          <a:solidFill>
            <a:srgbClr val="F5E4D8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51731" y="2502408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70632" y="2663952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06852" y="2663952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43072" y="2663952"/>
            <a:ext cx="236220" cy="161544"/>
          </a:xfrm>
          <a:prstGeom prst="rect">
            <a:avLst/>
          </a:prstGeom>
          <a:solidFill>
            <a:srgbClr val="F5E4D8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79291" y="2663952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15512" y="2663952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51731" y="2663952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51176" y="3209544"/>
            <a:ext cx="1856231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100" b="0">
                <a:solidFill>
                  <a:srgbClr val="556677"/>
                </a:solidFill>
                <a:latin typeface="Host Grotesk"/>
              </a:rPr>
              <a:t>3072 × 768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645152" y="2578608"/>
            <a:ext cx="475488" cy="0"/>
          </a:xfrm>
          <a:prstGeom prst="line">
            <a:avLst/>
          </a:prstGeom>
          <a:ln w="2032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175504" y="2176272"/>
            <a:ext cx="1417320" cy="804672"/>
          </a:xfrm>
          <a:prstGeom prst="roundRect">
            <a:avLst/>
          </a:prstGeom>
          <a:solidFill>
            <a:srgbClr val="F4F5F6"/>
          </a:solidFill>
          <a:ln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800" b="1">
                <a:solidFill>
                  <a:srgbClr val="1A1A1A"/>
                </a:solidFill>
                <a:latin typeface="Host Grotesk"/>
              </a:rPr>
              <a:t>3072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38928" y="3081528"/>
            <a:ext cx="1490472" cy="2468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100" b="0">
                <a:solidFill>
                  <a:srgbClr val="556677"/>
                </a:solidFill>
                <a:latin typeface="Host Grotesk"/>
              </a:rPr>
              <a:t>intermediate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620256" y="2578608"/>
            <a:ext cx="475488" cy="0"/>
          </a:xfrm>
          <a:prstGeom prst="line">
            <a:avLst/>
          </a:prstGeom>
          <a:ln w="2032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150608" y="2057400"/>
            <a:ext cx="2057400" cy="1051560"/>
          </a:xfrm>
          <a:prstGeom prst="roundRect">
            <a:avLst/>
          </a:prstGeom>
          <a:solidFill>
            <a:srgbClr val="F5E4D8"/>
          </a:solidFill>
          <a:ln>
            <a:solidFill>
              <a:srgbClr val="F5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2200" b="1">
                <a:solidFill>
                  <a:srgbClr val="1A1A1A"/>
                </a:solidFill>
                <a:latin typeface="Host Grotesk"/>
              </a:rPr>
              <a:t>W₂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70648" y="2340864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06867" y="2340864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43088" y="2340864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79308" y="2340864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415528" y="2340864"/>
            <a:ext cx="236220" cy="161544"/>
          </a:xfrm>
          <a:prstGeom prst="rect">
            <a:avLst/>
          </a:prstGeom>
          <a:solidFill>
            <a:srgbClr val="F5E4D8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651748" y="2340864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470648" y="2502408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06867" y="2502408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943088" y="2502408"/>
            <a:ext cx="236220" cy="161544"/>
          </a:xfrm>
          <a:prstGeom prst="rect">
            <a:avLst/>
          </a:prstGeom>
          <a:solidFill>
            <a:srgbClr val="F5E4D8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79308" y="2502408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415528" y="2502408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651748" y="2502408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470648" y="2663952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06867" y="2663952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943088" y="2663952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79308" y="2663952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415528" y="2663952"/>
            <a:ext cx="236220" cy="161544"/>
          </a:xfrm>
          <a:prstGeom prst="rect">
            <a:avLst/>
          </a:prstGeom>
          <a:solidFill>
            <a:srgbClr val="FFFFFF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651748" y="2663952"/>
            <a:ext cx="236220" cy="161544"/>
          </a:xfrm>
          <a:prstGeom prst="rect">
            <a:avLst/>
          </a:prstGeom>
          <a:solidFill>
            <a:srgbClr val="F5E4D8"/>
          </a:solidFill>
          <a:ln w="7620"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251192" y="3209544"/>
            <a:ext cx="1856231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100" b="0">
                <a:solidFill>
                  <a:srgbClr val="556677"/>
                </a:solidFill>
                <a:latin typeface="Host Grotesk"/>
              </a:rPr>
              <a:t>768 × 3072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9345168" y="2578608"/>
            <a:ext cx="548640" cy="0"/>
          </a:xfrm>
          <a:prstGeom prst="line">
            <a:avLst/>
          </a:prstGeom>
          <a:ln w="2032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9930384" y="2331720"/>
            <a:ext cx="1143000" cy="4754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2600" b="1">
                <a:solidFill>
                  <a:srgbClr val="1A1A1A"/>
                </a:solidFill>
                <a:latin typeface="Host Grotesk"/>
              </a:rPr>
              <a:t>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930384" y="2816352"/>
            <a:ext cx="1143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200" b="0">
                <a:solidFill>
                  <a:srgbClr val="556677"/>
                </a:solidFill>
                <a:latin typeface="Host Grotesk"/>
              </a:rPr>
              <a:t>768 features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13232" y="4005072"/>
            <a:ext cx="6583680" cy="658368"/>
          </a:xfrm>
          <a:prstGeom prst="round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2600" b="0">
                <a:solidFill>
                  <a:srgbClr val="1A1A1A"/>
                </a:solidFill>
                <a:latin typeface="Cambria Math"/>
              </a:rPr>
              <a:t>W₂(W₁x) = (W₂W₁)x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498079" y="3840480"/>
            <a:ext cx="3977639" cy="1005840"/>
          </a:xfrm>
          <a:prstGeom prst="roundRect">
            <a:avLst/>
          </a:prstGeom>
          <a:solidFill>
            <a:srgbClr val="FBF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700" b="1">
                <a:solidFill>
                  <a:srgbClr val="1A1A1A"/>
                </a:solidFill>
                <a:latin typeface="Host Grotesk"/>
              </a:rPr>
              <a:t>Two linear layers can be collapsed into one linear transformation.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68096" y="4965192"/>
            <a:ext cx="3429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300" b="1">
                <a:solidFill>
                  <a:srgbClr val="1A1A1A"/>
                </a:solidFill>
                <a:latin typeface="Host Grotesk"/>
              </a:rPr>
              <a:t>Linear layer</a:t>
            </a:r>
            <a:r>
              <a:rPr sz="1300" b="0">
                <a:solidFill>
                  <a:srgbClr val="1A1A1A"/>
                </a:solidFill>
                <a:latin typeface="Host Grotesk"/>
              </a:rPr>
              <a:t> = learned matrix multiplication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70832" y="4965192"/>
            <a:ext cx="3429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300" b="1">
                <a:solidFill>
                  <a:srgbClr val="D9783F"/>
                </a:solidFill>
                <a:latin typeface="Host Grotesk"/>
              </a:rPr>
              <a:t>No nonlinearity</a:t>
            </a:r>
            <a:r>
              <a:rPr sz="1300" b="0">
                <a:solidFill>
                  <a:srgbClr val="1A1A1A"/>
                </a:solidFill>
                <a:latin typeface="Host Grotesk"/>
              </a:rPr>
              <a:t> → no extra expressive power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973568" y="4965192"/>
            <a:ext cx="3429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300" b="1">
                <a:solidFill>
                  <a:srgbClr val="5D8A6D"/>
                </a:solidFill>
                <a:latin typeface="Host Grotesk"/>
              </a:rPr>
              <a:t>GELU breaks the collapse</a:t>
            </a:r>
            <a:r>
              <a:rPr sz="1300" b="0">
                <a:solidFill>
                  <a:srgbClr val="1A1A1A"/>
                </a:solidFill>
                <a:latin typeface="Host Grotesk"/>
              </a:rPr>
              <a:t> by making the composition nonlinear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904" y="609904"/>
            <a:ext cx="10972800" cy="427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3000" b="0">
                <a:solidFill>
                  <a:srgbClr val="1A1A1A"/>
                </a:solidFill>
                <a:latin typeface="Host Grotesk SemiBold"/>
              </a:rPr>
              <a:t>What the MLP is actually doing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904" y="1352397"/>
            <a:ext cx="10972800" cy="12801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600" b="0">
                <a:solidFill>
                  <a:srgbClr val="1A1A1A"/>
                </a:solidFill>
                <a:latin typeface="Host Grotesk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1627632"/>
            <a:ext cx="10972800" cy="5303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600" b="0">
                <a:solidFill>
                  <a:srgbClr val="1A1A1A"/>
                </a:solidFill>
                <a:latin typeface="Host Grotesk"/>
              </a:rPr>
              <a:t>One token expands into a larger feature space, gets a nonlinear transform, then comes back to 768.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50447" y="6444691"/>
            <a:ext cx="841248" cy="2167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r"/>
            <a:r>
              <a:rPr sz="1100" b="0">
                <a:solidFill>
                  <a:srgbClr val="1A1A1A"/>
                </a:solidFill>
                <a:latin typeface="Host Grotesk Medium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322576"/>
            <a:ext cx="1417320" cy="868680"/>
          </a:xfrm>
          <a:prstGeom prst="roundRect">
            <a:avLst/>
          </a:prstGeom>
          <a:solidFill>
            <a:srgbClr val="E8EDF6"/>
          </a:solidFill>
          <a:ln>
            <a:solidFill>
              <a:srgbClr val="E8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2100" b="1">
                <a:solidFill>
                  <a:srgbClr val="1A1A1A"/>
                </a:solidFill>
                <a:latin typeface="Host Grotesk"/>
              </a:rPr>
              <a:t>768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3227832"/>
            <a:ext cx="141732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100" b="0">
                <a:solidFill>
                  <a:srgbClr val="556677"/>
                </a:solidFill>
                <a:latin typeface="Host Grotesk"/>
              </a:rPr>
              <a:t>token vector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04288" y="2752344"/>
            <a:ext cx="457200" cy="0"/>
          </a:xfrm>
          <a:prstGeom prst="line">
            <a:avLst/>
          </a:prstGeom>
          <a:ln w="2032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07208" y="2157984"/>
            <a:ext cx="1810512" cy="1207008"/>
          </a:xfrm>
          <a:prstGeom prst="roundRect">
            <a:avLst/>
          </a:prstGeom>
          <a:solidFill>
            <a:srgbClr val="F4F5F6"/>
          </a:solidFill>
          <a:ln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600" b="1">
                <a:solidFill>
                  <a:srgbClr val="1A1A1A"/>
                </a:solidFill>
                <a:latin typeface="Host Grotesk"/>
              </a:rPr>
              <a:t>W₁
3072 × 768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27448" y="2752344"/>
            <a:ext cx="475488" cy="0"/>
          </a:xfrm>
          <a:prstGeom prst="line">
            <a:avLst/>
          </a:prstGeom>
          <a:ln w="2032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248656" y="2322576"/>
            <a:ext cx="1444752" cy="868680"/>
          </a:xfrm>
          <a:prstGeom prst="roundRect">
            <a:avLst/>
          </a:prstGeom>
          <a:solidFill>
            <a:srgbClr val="FBF1CE"/>
          </a:solidFill>
          <a:ln>
            <a:solidFill>
              <a:srgbClr val="FBF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2100" b="1">
                <a:solidFill>
                  <a:srgbClr val="1A1A1A"/>
                </a:solidFill>
                <a:latin typeface="Host Grotesk"/>
              </a:rPr>
              <a:t>3072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48656" y="3227832"/>
            <a:ext cx="144475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100" b="0">
                <a:solidFill>
                  <a:srgbClr val="556677"/>
                </a:solidFill>
                <a:latin typeface="Host Grotesk"/>
              </a:rPr>
              <a:t>features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21424" y="2752344"/>
            <a:ext cx="475488" cy="0"/>
          </a:xfrm>
          <a:prstGeom prst="line">
            <a:avLst/>
          </a:prstGeom>
          <a:ln w="2032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42631" y="2157984"/>
            <a:ext cx="1417320" cy="1207008"/>
          </a:xfrm>
          <a:prstGeom prst="roundRect">
            <a:avLst/>
          </a:prstGeom>
          <a:solidFill>
            <a:srgbClr val="F5E4D8"/>
          </a:solidFill>
          <a:ln>
            <a:solidFill>
              <a:srgbClr val="F5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700" b="1">
                <a:solidFill>
                  <a:srgbClr val="1A1A1A"/>
                </a:solidFill>
                <a:latin typeface="Host Grotesk"/>
              </a:rPr>
              <a:t>GELU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79208" y="3227832"/>
            <a:ext cx="135331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100" b="0">
                <a:solidFill>
                  <a:srgbClr val="556677"/>
                </a:solidFill>
                <a:latin typeface="Host Grotesk"/>
              </a:rPr>
              <a:t>nonlinearity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97112" y="2752344"/>
            <a:ext cx="475488" cy="0"/>
          </a:xfrm>
          <a:prstGeom prst="line">
            <a:avLst/>
          </a:prstGeom>
          <a:ln w="2032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418320" y="2157984"/>
            <a:ext cx="1810512" cy="1207008"/>
          </a:xfrm>
          <a:prstGeom prst="roundRect">
            <a:avLst/>
          </a:prstGeom>
          <a:solidFill>
            <a:srgbClr val="F4F5F6"/>
          </a:solidFill>
          <a:ln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600" b="1">
                <a:solidFill>
                  <a:srgbClr val="1A1A1A"/>
                </a:solidFill>
                <a:latin typeface="Host Grotesk"/>
              </a:rPr>
              <a:t>W₂
768 × 3072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228832" y="2752344"/>
            <a:ext cx="91440" cy="0"/>
          </a:xfrm>
          <a:prstGeom prst="line">
            <a:avLst/>
          </a:prstGeom>
          <a:ln w="2032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1356848" y="2322576"/>
            <a:ext cx="731520" cy="868680"/>
          </a:xfrm>
          <a:prstGeom prst="roundRect">
            <a:avLst/>
          </a:prstGeom>
          <a:solidFill>
            <a:srgbClr val="E6F0E8"/>
          </a:solidFill>
          <a:ln>
            <a:solidFill>
              <a:srgbClr val="E6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800" b="1">
                <a:solidFill>
                  <a:srgbClr val="1A1A1A"/>
                </a:solidFill>
                <a:latin typeface="Host Grotesk"/>
              </a:rPr>
              <a:t>768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160520"/>
            <a:ext cx="507492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500" b="1">
                <a:solidFill>
                  <a:srgbClr val="1A1A1A"/>
                </a:solidFill>
                <a:latin typeface="Host Grotesk"/>
              </a:rPr>
              <a:t>Example: a few of the 3072 intermediate values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4599432"/>
            <a:ext cx="1828800" cy="658368"/>
          </a:xfrm>
          <a:prstGeom prst="roundRect">
            <a:avLst/>
          </a:prstGeom>
          <a:solidFill>
            <a:srgbClr val="F4F5F6"/>
          </a:solidFill>
          <a:ln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600" b="1">
                <a:solidFill>
                  <a:srgbClr val="1A1A1A"/>
                </a:solidFill>
                <a:latin typeface="Host Grotesk"/>
              </a:rPr>
              <a:t>2.40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06624" y="4599432"/>
            <a:ext cx="1828800" cy="658368"/>
          </a:xfrm>
          <a:prstGeom prst="roundRect">
            <a:avLst/>
          </a:prstGeom>
          <a:solidFill>
            <a:srgbClr val="F4F5F6"/>
          </a:solidFill>
          <a:ln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600" b="1">
                <a:solidFill>
                  <a:srgbClr val="1A1A1A"/>
                </a:solidFill>
                <a:latin typeface="Host Grotesk"/>
              </a:rPr>
              <a:t>−0.30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4599432"/>
            <a:ext cx="1828800" cy="658368"/>
          </a:xfrm>
          <a:prstGeom prst="roundRect">
            <a:avLst/>
          </a:prstGeom>
          <a:solidFill>
            <a:srgbClr val="F4F5F6"/>
          </a:solidFill>
          <a:ln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600" b="1">
                <a:solidFill>
                  <a:srgbClr val="1A1A1A"/>
                </a:solidFill>
                <a:latin typeface="Host Grotesk"/>
              </a:rPr>
              <a:t>0.02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0256" y="4599432"/>
            <a:ext cx="1828800" cy="658368"/>
          </a:xfrm>
          <a:prstGeom prst="roundRect">
            <a:avLst/>
          </a:prstGeom>
          <a:solidFill>
            <a:srgbClr val="F4F5F6"/>
          </a:solidFill>
          <a:ln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600" b="1">
                <a:solidFill>
                  <a:srgbClr val="1A1A1A"/>
                </a:solidFill>
                <a:latin typeface="Host Grotesk"/>
              </a:rPr>
              <a:t>5.10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41080" y="4526280"/>
            <a:ext cx="2651760" cy="822960"/>
          </a:xfrm>
          <a:prstGeom prst="roundRect">
            <a:avLst/>
          </a:prstGeom>
          <a:solidFill>
            <a:srgbClr val="F5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500" b="0">
                <a:solidFill>
                  <a:srgbClr val="1A1A1A"/>
                </a:solidFill>
                <a:latin typeface="Cambria Math"/>
              </a:rPr>
              <a:t>↓ GELU
[2.38, −0.11, 0.01, 5.10, …]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532120"/>
            <a:ext cx="544068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300" b="1">
                <a:solidFill>
                  <a:srgbClr val="D9783F"/>
                </a:solidFill>
                <a:latin typeface="Host Grotesk"/>
              </a:rPr>
              <a:t>GELU is not normalization. </a:t>
            </a:r>
            <a:r>
              <a:rPr sz="1300" b="0">
                <a:solidFill>
                  <a:srgbClr val="1A1A1A"/>
                </a:solidFill>
                <a:latin typeface="Host Grotesk"/>
              </a:rPr>
              <a:t>It adds the nonlinearity that makes the two linear layers more expressive together.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5532120"/>
            <a:ext cx="512064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300" b="0">
                <a:solidFill>
                  <a:srgbClr val="556677"/>
                </a:solidFill>
                <a:latin typeface="Host Grotesk"/>
              </a:rPr>
              <a:t>Every token follows this path independently; attention is the part that mixes tokens.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904" y="609904"/>
            <a:ext cx="10972800" cy="427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3000" b="0">
                <a:solidFill>
                  <a:srgbClr val="1A1A1A"/>
                </a:solidFill>
                <a:latin typeface="Host Grotesk SemiBold"/>
              </a:rPr>
              <a:t>LayerNorm: keep activations in a workable range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904" y="1352397"/>
            <a:ext cx="10972800" cy="12801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600" b="0">
                <a:solidFill>
                  <a:srgbClr val="1A1A1A"/>
                </a:solidFill>
                <a:latin typeface="Host Grotesk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1627632"/>
            <a:ext cx="10972800" cy="5303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600" b="0">
                <a:solidFill>
                  <a:srgbClr val="1A1A1A"/>
                </a:solidFill>
                <a:latin typeface="Host Grotesk"/>
              </a:rPr>
              <a:t>In GPT-2, LayerNorm is applied across the 768 features of each token before the attention and MLP sublayers.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50447" y="6444691"/>
            <a:ext cx="841248" cy="2167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r"/>
            <a:r>
              <a:rPr sz="1100" b="0">
                <a:solidFill>
                  <a:srgbClr val="1A1A1A"/>
                </a:solidFill>
                <a:latin typeface="Host Grotesk Medium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76272"/>
            <a:ext cx="379476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500" b="1">
                <a:solidFill>
                  <a:srgbClr val="1A1A1A"/>
                </a:solidFill>
                <a:latin typeface="Host Grotesk"/>
              </a:rPr>
              <a:t>One token, before LayerNorm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633472"/>
            <a:ext cx="768096" cy="658368"/>
          </a:xfrm>
          <a:prstGeom prst="roundRect">
            <a:avLst/>
          </a:prstGeom>
          <a:solidFill>
            <a:srgbClr val="F4F5F6"/>
          </a:solidFill>
          <a:ln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800" b="1">
                <a:solidFill>
                  <a:srgbClr val="1A1A1A"/>
                </a:solidFill>
                <a:latin typeface="Host Grotesk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64207" y="2633472"/>
            <a:ext cx="768096" cy="658368"/>
          </a:xfrm>
          <a:prstGeom prst="roundRect">
            <a:avLst/>
          </a:prstGeom>
          <a:solidFill>
            <a:srgbClr val="F4F5F6"/>
          </a:solidFill>
          <a:ln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800" b="1">
                <a:solidFill>
                  <a:srgbClr val="1A1A1A"/>
                </a:solidFill>
                <a:latin typeface="Host Grotesk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78608" y="2633472"/>
            <a:ext cx="768096" cy="658368"/>
          </a:xfrm>
          <a:prstGeom prst="roundRect">
            <a:avLst/>
          </a:prstGeom>
          <a:solidFill>
            <a:srgbClr val="F4F5F6"/>
          </a:solidFill>
          <a:ln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800" b="1">
                <a:solidFill>
                  <a:srgbClr val="1A1A1A"/>
                </a:solidFill>
                <a:latin typeface="Host Grotesk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8" y="2633472"/>
            <a:ext cx="768096" cy="658368"/>
          </a:xfrm>
          <a:prstGeom prst="roundRect">
            <a:avLst/>
          </a:prstGeom>
          <a:solidFill>
            <a:srgbClr val="F4F5F6"/>
          </a:solidFill>
          <a:ln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800" b="1">
                <a:solidFill>
                  <a:srgbClr val="1A1A1A"/>
                </a:solidFill>
                <a:latin typeface="Host Grotesk"/>
              </a:rPr>
              <a:t>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456432"/>
            <a:ext cx="37947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300" b="0">
                <a:solidFill>
                  <a:srgbClr val="556677"/>
                </a:solidFill>
                <a:latin typeface="Host Grotesk"/>
              </a:rPr>
              <a:t>mean = 5.00    std ≈ 2.24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9192" y="3931920"/>
            <a:ext cx="0" cy="475488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1520" y="4059936"/>
            <a:ext cx="3794760" cy="320040"/>
          </a:xfrm>
          <a:prstGeom prst="roundRect">
            <a:avLst/>
          </a:prstGeom>
          <a:solidFill>
            <a:srgbClr val="E8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400" b="0">
                <a:solidFill>
                  <a:srgbClr val="1A1A1A"/>
                </a:solidFill>
                <a:latin typeface="Cambria Math"/>
              </a:rPr>
              <a:t>Normalize: (x − μ) / √(σ² + ε)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553712"/>
            <a:ext cx="37947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300" b="0">
                <a:solidFill>
                  <a:srgbClr val="1A1A1A"/>
                </a:solidFill>
                <a:latin typeface="Host Grotesk"/>
              </a:rPr>
              <a:t>≈  [−1.34, −0.45, 0.45, 1.34]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2176272"/>
            <a:ext cx="62636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500" b="1">
                <a:solidFill>
                  <a:srgbClr val="1A1A1A"/>
                </a:solidFill>
                <a:latin typeface="Host Grotesk"/>
              </a:rPr>
              <a:t>Then the model can learn its preferred scale and offset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02352" y="2743200"/>
            <a:ext cx="1298448" cy="749808"/>
          </a:xfrm>
          <a:prstGeom prst="roundRect">
            <a:avLst/>
          </a:prstGeom>
          <a:solidFill>
            <a:srgbClr val="E8EDF6"/>
          </a:solidFill>
          <a:ln>
            <a:solidFill>
              <a:srgbClr val="E8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400" b="1">
                <a:solidFill>
                  <a:srgbClr val="1A1A1A"/>
                </a:solidFill>
                <a:latin typeface="Host Grotesk"/>
              </a:rPr>
              <a:t>normalized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37960" y="3118104"/>
            <a:ext cx="438912" cy="0"/>
          </a:xfrm>
          <a:prstGeom prst="line">
            <a:avLst/>
          </a:prstGeom>
          <a:ln w="2032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022592" y="2743200"/>
            <a:ext cx="1298448" cy="749808"/>
          </a:xfrm>
          <a:prstGeom prst="roundRect">
            <a:avLst/>
          </a:prstGeom>
          <a:solidFill>
            <a:srgbClr val="FBF1CE"/>
          </a:solidFill>
          <a:ln>
            <a:solidFill>
              <a:srgbClr val="FBF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900" b="1">
                <a:solidFill>
                  <a:srgbClr val="1A1A1A"/>
                </a:solidFill>
                <a:latin typeface="Host Grotesk"/>
              </a:rPr>
              <a:t>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13448" y="3547872"/>
            <a:ext cx="132588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100" b="0">
                <a:solidFill>
                  <a:srgbClr val="556677"/>
                </a:solidFill>
                <a:latin typeface="Host Grotesk"/>
              </a:rPr>
              <a:t>scale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421624" y="3118104"/>
            <a:ext cx="438912" cy="0"/>
          </a:xfrm>
          <a:prstGeom prst="line">
            <a:avLst/>
          </a:prstGeom>
          <a:ln w="2032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906256" y="2743200"/>
            <a:ext cx="1298448" cy="749808"/>
          </a:xfrm>
          <a:prstGeom prst="roundRect">
            <a:avLst/>
          </a:prstGeom>
          <a:solidFill>
            <a:srgbClr val="F5E4D8"/>
          </a:solidFill>
          <a:ln>
            <a:solidFill>
              <a:srgbClr val="F5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900" b="1">
                <a:solidFill>
                  <a:srgbClr val="1A1A1A"/>
                </a:solidFill>
                <a:latin typeface="Host Grotesk"/>
              </a:rPr>
              <a:t>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97112" y="3547872"/>
            <a:ext cx="132588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100" b="0">
                <a:solidFill>
                  <a:srgbClr val="556677"/>
                </a:solidFill>
                <a:latin typeface="Host Grotesk"/>
              </a:rPr>
              <a:t>offset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305288" y="3118104"/>
            <a:ext cx="411480" cy="0"/>
          </a:xfrm>
          <a:prstGeom prst="line">
            <a:avLst/>
          </a:prstGeom>
          <a:ln w="2032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753344" y="2743200"/>
            <a:ext cx="667512" cy="749808"/>
          </a:xfrm>
          <a:prstGeom prst="roundRect">
            <a:avLst/>
          </a:prstGeom>
          <a:solidFill>
            <a:srgbClr val="E6F0E8"/>
          </a:solidFill>
          <a:ln>
            <a:solidFill>
              <a:srgbClr val="E6F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900" b="1">
                <a:solidFill>
                  <a:srgbClr val="1A1A1A"/>
                </a:solidFill>
                <a:latin typeface="Host Grotesk"/>
              </a:rPr>
              <a:t>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93208" y="4224528"/>
            <a:ext cx="6236208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500" b="1">
                <a:solidFill>
                  <a:srgbClr val="1A1A1A"/>
                </a:solidFill>
                <a:latin typeface="Host Grotesk"/>
              </a:rPr>
              <a:t>Where it sits in the GPT-2 block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4663440"/>
            <a:ext cx="1874519" cy="658368"/>
          </a:xfrm>
          <a:prstGeom prst="roundRect">
            <a:avLst/>
          </a:prstGeom>
          <a:solidFill>
            <a:srgbClr val="F4F5F6"/>
          </a:solidFill>
          <a:ln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400" b="1">
                <a:solidFill>
                  <a:srgbClr val="1A1A1A"/>
                </a:solidFill>
                <a:latin typeface="Host Grotesk"/>
              </a:rPr>
              <a:t>LayerNorm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132320" y="4992624"/>
            <a:ext cx="475488" cy="0"/>
          </a:xfrm>
          <a:prstGeom prst="line">
            <a:avLst/>
          </a:prstGeom>
          <a:ln w="2032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653527" y="4663440"/>
            <a:ext cx="1417320" cy="658368"/>
          </a:xfrm>
          <a:prstGeom prst="roundRect">
            <a:avLst/>
          </a:prstGeom>
          <a:solidFill>
            <a:srgbClr val="E8EDF6"/>
          </a:solidFill>
          <a:ln>
            <a:solidFill>
              <a:srgbClr val="E8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400" b="1">
                <a:solidFill>
                  <a:srgbClr val="1A1A1A"/>
                </a:solidFill>
                <a:latin typeface="Host Grotesk"/>
              </a:rPr>
              <a:t>Attention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62288" y="4992624"/>
            <a:ext cx="475488" cy="0"/>
          </a:xfrm>
          <a:prstGeom prst="line">
            <a:avLst/>
          </a:prstGeom>
          <a:ln w="2032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83496" y="4663440"/>
            <a:ext cx="960120" cy="658368"/>
          </a:xfrm>
          <a:prstGeom prst="roundRect">
            <a:avLst/>
          </a:prstGeom>
          <a:solidFill>
            <a:srgbClr val="F4F5F6"/>
          </a:solidFill>
          <a:ln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200" b="1">
                <a:solidFill>
                  <a:srgbClr val="1A1A1A"/>
                </a:solidFill>
                <a:latin typeface="Host Grotesk"/>
              </a:rPr>
              <a:t>+ residual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0640" y="5541264"/>
            <a:ext cx="5522976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300" b="0">
                <a:solidFill>
                  <a:srgbClr val="556677"/>
                </a:solidFill>
                <a:latin typeface="Host Grotesk"/>
              </a:rPr>
              <a:t>Then the same pattern repeats for the MLP: LayerNorm → MLP → + residual.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8" y="5358384"/>
            <a:ext cx="3767328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300" b="1">
                <a:solidFill>
                  <a:srgbClr val="D9783F"/>
                </a:solidFill>
                <a:latin typeface="Host Grotesk"/>
              </a:rPr>
              <a:t>Key idea: </a:t>
            </a:r>
            <a:r>
              <a:rPr sz="1300" b="0">
                <a:solidFill>
                  <a:srgbClr val="1A1A1A"/>
                </a:solidFill>
                <a:latin typeface="Host Grotesk"/>
              </a:rPr>
              <a:t>normalization stabilizes scale; γ and β remain trainable.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904" y="609904"/>
            <a:ext cx="10972800" cy="427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3000" b="0">
                <a:solidFill>
                  <a:srgbClr val="1A1A1A"/>
                </a:solidFill>
                <a:latin typeface="Host Grotesk SemiBold"/>
              </a:rPr>
              <a:t>Logits: the model’s raw scores for the next token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904" y="1352397"/>
            <a:ext cx="10972800" cy="12801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600" b="0">
                <a:solidFill>
                  <a:srgbClr val="1A1A1A"/>
                </a:solidFill>
                <a:latin typeface="Host Grotesk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1627632"/>
            <a:ext cx="10972800" cy="5303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600" b="0">
                <a:solidFill>
                  <a:srgbClr val="1A1A1A"/>
                </a:solidFill>
                <a:latin typeface="Host Grotesk"/>
              </a:rPr>
              <a:t>The final projection turns the current 768-dimensional representation into one score for every vocabulary entry.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50447" y="6444691"/>
            <a:ext cx="841248" cy="2167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r"/>
            <a:r>
              <a:rPr sz="1100" b="0">
                <a:solidFill>
                  <a:srgbClr val="1A1A1A"/>
                </a:solidFill>
                <a:latin typeface="Host Grotesk Medium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249424"/>
            <a:ext cx="1280160" cy="786384"/>
          </a:xfrm>
          <a:prstGeom prst="roundRect">
            <a:avLst/>
          </a:prstGeom>
          <a:solidFill>
            <a:srgbClr val="E8EDF6"/>
          </a:solidFill>
          <a:ln>
            <a:solidFill>
              <a:srgbClr val="E8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900" b="1">
                <a:solidFill>
                  <a:srgbClr val="1A1A1A"/>
                </a:solidFill>
                <a:latin typeface="Host Grotesk"/>
              </a:rPr>
              <a:t>768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48840" y="2642616"/>
            <a:ext cx="466344" cy="0"/>
          </a:xfrm>
          <a:prstGeom prst="line">
            <a:avLst/>
          </a:prstGeom>
          <a:ln w="2032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670048" y="2084831"/>
            <a:ext cx="2148840" cy="1115568"/>
          </a:xfrm>
          <a:prstGeom prst="roundRect">
            <a:avLst/>
          </a:prstGeom>
          <a:solidFill>
            <a:srgbClr val="F4F5F6"/>
          </a:solidFill>
          <a:ln>
            <a:solidFill>
              <a:srgbClr val="EAE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600" b="1">
                <a:solidFill>
                  <a:srgbClr val="1A1A1A"/>
                </a:solidFill>
                <a:latin typeface="Host Grotesk"/>
              </a:rPr>
              <a:t>W_out
≈ 50,257 × 768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46904" y="2642616"/>
            <a:ext cx="466344" cy="0"/>
          </a:xfrm>
          <a:prstGeom prst="line">
            <a:avLst/>
          </a:prstGeom>
          <a:ln w="2032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68112" y="2249424"/>
            <a:ext cx="1883664" cy="786384"/>
          </a:xfrm>
          <a:prstGeom prst="roundRect">
            <a:avLst/>
          </a:prstGeom>
          <a:solidFill>
            <a:srgbClr val="F5E4D8"/>
          </a:solidFill>
          <a:ln>
            <a:solidFill>
              <a:srgbClr val="F5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800" b="1">
                <a:solidFill>
                  <a:srgbClr val="1A1A1A"/>
                </a:solidFill>
                <a:latin typeface="Host Grotesk"/>
              </a:rPr>
              <a:t>50,257 logits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6096" y="2286000"/>
            <a:ext cx="3886200" cy="658368"/>
          </a:xfrm>
          <a:prstGeom prst="roundRect">
            <a:avLst/>
          </a:prstGeom>
          <a:solidFill>
            <a:srgbClr val="FBF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500" b="1">
                <a:solidFill>
                  <a:srgbClr val="1A1A1A"/>
                </a:solidFill>
                <a:latin typeface="Host Grotesk"/>
              </a:rPr>
              <a:t>One number per token in the vocabulary.
Logits are not probabilities.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3611880"/>
            <a:ext cx="1065276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500" b="1">
                <a:solidFill>
                  <a:srgbClr val="1A1A1A"/>
                </a:solidFill>
                <a:latin typeface="Host Grotesk"/>
              </a:rPr>
              <a:t>Illustrative logits for five candidate tokens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4050791"/>
            <a:ext cx="1783080" cy="1051560"/>
          </a:xfrm>
          <a:prstGeom prst="roundRect">
            <a:avLst/>
          </a:prstGeom>
          <a:solidFill>
            <a:srgbClr val="F5E4D8"/>
          </a:solidFill>
          <a:ln>
            <a:solidFill>
              <a:srgbClr val="F5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800" b="1">
                <a:solidFill>
                  <a:srgbClr val="1A1A1A"/>
                </a:solidFill>
                <a:latin typeface="Host Grotesk"/>
              </a:rPr>
              <a:t>“a”
2.1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71216" y="4050791"/>
            <a:ext cx="1783080" cy="1051560"/>
          </a:xfrm>
          <a:prstGeom prst="roundRect">
            <a:avLst/>
          </a:prstGeom>
          <a:solidFill>
            <a:srgbClr val="F5E4D8"/>
          </a:solidFill>
          <a:ln>
            <a:solidFill>
              <a:srgbClr val="F5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800" b="1">
                <a:solidFill>
                  <a:srgbClr val="1A1A1A"/>
                </a:solidFill>
                <a:latin typeface="Host Grotesk"/>
              </a:rPr>
              <a:t>“the”
1.8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92624" y="4050791"/>
            <a:ext cx="1783080" cy="1051560"/>
          </a:xfrm>
          <a:prstGeom prst="roundRect">
            <a:avLst/>
          </a:prstGeom>
          <a:solidFill>
            <a:srgbClr val="F4F5F6"/>
          </a:solidFill>
          <a:ln>
            <a:solidFill>
              <a:srgbClr val="F4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800" b="1">
                <a:solidFill>
                  <a:srgbClr val="1A1A1A"/>
                </a:solidFill>
                <a:latin typeface="Host Grotesk"/>
              </a:rPr>
              <a:t>“my”
0.3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14032" y="4050791"/>
            <a:ext cx="1783080" cy="1051560"/>
          </a:xfrm>
          <a:prstGeom prst="roundRect">
            <a:avLst/>
          </a:prstGeom>
          <a:solidFill>
            <a:srgbClr val="F4F5F6"/>
          </a:solidFill>
          <a:ln>
            <a:solidFill>
              <a:srgbClr val="F4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800" b="1">
                <a:solidFill>
                  <a:srgbClr val="1A1A1A"/>
                </a:solidFill>
                <a:latin typeface="Host Grotesk"/>
              </a:rPr>
              <a:t>“that”
0.2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4050791"/>
            <a:ext cx="1783080" cy="1051560"/>
          </a:xfrm>
          <a:prstGeom prst="roundRect">
            <a:avLst/>
          </a:prstGeom>
          <a:solidFill>
            <a:srgbClr val="F4F5F6"/>
          </a:solidFill>
          <a:ln>
            <a:solidFill>
              <a:srgbClr val="F4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800" b="1">
                <a:solidFill>
                  <a:srgbClr val="1A1A1A"/>
                </a:solidFill>
                <a:latin typeface="Host Grotesk"/>
              </a:rPr>
              <a:t>“an”
0.0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5413248"/>
            <a:ext cx="640080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400" b="1">
                <a:solidFill>
                  <a:srgbClr val="1A1A1A"/>
                </a:solidFill>
                <a:latin typeface="Host Grotesk"/>
              </a:rPr>
              <a:t>Higher logit </a:t>
            </a:r>
            <a:r>
              <a:rPr sz="1400" b="0">
                <a:solidFill>
                  <a:srgbClr val="1A1A1A"/>
                </a:solidFill>
                <a:latin typeface="Host Grotesk"/>
              </a:rPr>
              <a:t>means the model scores that token more strongly relative to the others.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5413248"/>
            <a:ext cx="3858768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400" b="0">
                <a:solidFill>
                  <a:srgbClr val="556677"/>
                </a:solidFill>
                <a:latin typeface="Host Grotesk"/>
              </a:rPr>
              <a:t>They can be negative, zero, or positive. Softmax comes next if we want probabilities.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" y="6080760"/>
            <a:ext cx="106070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100" b="0">
                <a:solidFill>
                  <a:srgbClr val="556677"/>
                </a:solidFill>
                <a:latin typeface="Consolas"/>
              </a:rPr>
              <a:t>GPT-2 reference code:  logits = x @ w.wte.T  (output projection tied to the token-embedding weights)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904" y="609904"/>
            <a:ext cx="10972800" cy="4270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3000" b="0">
                <a:solidFill>
                  <a:srgbClr val="1A1A1A"/>
                </a:solidFill>
                <a:latin typeface="Host Grotesk SemiBold"/>
              </a:rPr>
              <a:t>From logits to probabilities — then to a learning signal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904" y="1352397"/>
            <a:ext cx="10972800" cy="12801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600" b="0">
                <a:solidFill>
                  <a:srgbClr val="1A1A1A"/>
                </a:solidFill>
                <a:latin typeface="Host Grotesk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09904" y="1627632"/>
            <a:ext cx="10972800" cy="5303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600" b="0">
                <a:solidFill>
                  <a:srgbClr val="1A1A1A"/>
                </a:solidFill>
                <a:latin typeface="Host Grotesk"/>
              </a:rPr>
              <a:t>Softmax turns relative scores into a distribution; cross-entropy asks how much probability the model gave the correct token.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50447" y="6444691"/>
            <a:ext cx="841248" cy="2167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r"/>
            <a:r>
              <a:rPr sz="1100" b="0">
                <a:solidFill>
                  <a:srgbClr val="1A1A1A"/>
                </a:solidFill>
                <a:latin typeface="Host Grotesk Medium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2103120"/>
            <a:ext cx="507492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500" b="1">
                <a:solidFill>
                  <a:srgbClr val="1A1A1A"/>
                </a:solidFill>
                <a:latin typeface="Host Grotesk"/>
              </a:rPr>
              <a:t>Softmax: convert scores into probabilities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532888"/>
            <a:ext cx="5074920" cy="420624"/>
          </a:xfrm>
          <a:prstGeom prst="roundRect">
            <a:avLst/>
          </a:prstGeom>
          <a:solidFill>
            <a:srgbClr val="E8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2300" b="0">
                <a:solidFill>
                  <a:srgbClr val="1A1A1A"/>
                </a:solidFill>
                <a:latin typeface="Cambria Math"/>
              </a:rPr>
              <a:t>pᵢ = e^{zᵢ} / Σⱼ e^{zⱼ}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" y="3090672"/>
            <a:ext cx="685800" cy="347472"/>
          </a:xfrm>
          <a:prstGeom prst="round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300" b="1">
                <a:solidFill>
                  <a:srgbClr val="1A1A1A"/>
                </a:solidFill>
                <a:latin typeface="Host Grotesk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1517904" y="3090672"/>
            <a:ext cx="6858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300" b="0">
                <a:solidFill>
                  <a:srgbClr val="556677"/>
                </a:solidFill>
                <a:latin typeface="Host Grotesk"/>
              </a:rPr>
              <a:t>2.1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58568" y="3090672"/>
            <a:ext cx="960120" cy="347472"/>
          </a:xfrm>
          <a:prstGeom prst="roundRect">
            <a:avLst/>
          </a:prstGeom>
          <a:solidFill>
            <a:srgbClr val="E6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300" b="1">
                <a:solidFill>
                  <a:srgbClr val="1A1A1A"/>
                </a:solidFill>
                <a:latin typeface="Host Grotesk"/>
              </a:rPr>
              <a:t>0.46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55848" y="3090672"/>
            <a:ext cx="820216" cy="347472"/>
          </a:xfrm>
          <a:prstGeom prst="rect">
            <a:avLst/>
          </a:prstGeom>
          <a:solidFill>
            <a:srgbClr val="5D8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600" b="0">
                <a:solidFill>
                  <a:srgbClr val="1A1A1A"/>
                </a:solidFill>
                <a:latin typeface="Host Grotesk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5230368" y="3090672"/>
            <a:ext cx="4114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300" b="0">
                <a:solidFill>
                  <a:srgbClr val="556677"/>
                </a:solidFill>
                <a:latin typeface="Host Grotesk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" y="3483864"/>
            <a:ext cx="685800" cy="347472"/>
          </a:xfrm>
          <a:prstGeom prst="round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300" b="1">
                <a:solidFill>
                  <a:srgbClr val="1A1A1A"/>
                </a:solidFill>
                <a:latin typeface="Host Grotesk"/>
              </a:rPr>
              <a:t>the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17904" y="3483864"/>
            <a:ext cx="6858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300" b="0">
                <a:solidFill>
                  <a:srgbClr val="556677"/>
                </a:solidFill>
                <a:latin typeface="Host Grotesk"/>
              </a:rPr>
              <a:t>1.8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58568" y="3483864"/>
            <a:ext cx="960120" cy="347472"/>
          </a:xfrm>
          <a:prstGeom prst="roundRect">
            <a:avLst/>
          </a:prstGeom>
          <a:solidFill>
            <a:srgbClr val="E6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300" b="1">
                <a:solidFill>
                  <a:srgbClr val="1A1A1A"/>
                </a:solidFill>
                <a:latin typeface="Host Grotesk"/>
              </a:rPr>
              <a:t>0.34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55848" y="3483864"/>
            <a:ext cx="606247" cy="347472"/>
          </a:xfrm>
          <a:prstGeom prst="rect">
            <a:avLst/>
          </a:prstGeom>
          <a:solidFill>
            <a:srgbClr val="5D8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600" b="0">
                <a:solidFill>
                  <a:srgbClr val="1A1A1A"/>
                </a:solidFill>
                <a:latin typeface="Host Grotesk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230368" y="3483864"/>
            <a:ext cx="4114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300" b="0">
                <a:solidFill>
                  <a:srgbClr val="556677"/>
                </a:solidFill>
                <a:latin typeface="Host Grotesk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" y="3877056"/>
            <a:ext cx="685800" cy="347472"/>
          </a:xfrm>
          <a:prstGeom prst="round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300" b="1">
                <a:solidFill>
                  <a:srgbClr val="1A1A1A"/>
                </a:solidFill>
                <a:latin typeface="Host Grotesk"/>
              </a:rPr>
              <a:t>my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17904" y="3877056"/>
            <a:ext cx="6858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300" b="0">
                <a:solidFill>
                  <a:srgbClr val="556677"/>
                </a:solidFill>
                <a:latin typeface="Host Grotesk"/>
              </a:rPr>
              <a:t>0.3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58568" y="3877056"/>
            <a:ext cx="960120" cy="347472"/>
          </a:xfrm>
          <a:prstGeom prst="roundRect">
            <a:avLst/>
          </a:prstGeom>
          <a:solidFill>
            <a:srgbClr val="E6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300" b="1">
                <a:solidFill>
                  <a:srgbClr val="1A1A1A"/>
                </a:solidFill>
                <a:latin typeface="Host Grotesk"/>
              </a:rPr>
              <a:t>0.08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55848" y="3877056"/>
            <a:ext cx="142646" cy="347472"/>
          </a:xfrm>
          <a:prstGeom prst="rect">
            <a:avLst/>
          </a:prstGeom>
          <a:solidFill>
            <a:srgbClr val="5D8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600" b="0">
                <a:solidFill>
                  <a:srgbClr val="1A1A1A"/>
                </a:solidFill>
                <a:latin typeface="Host Grotesk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5230368" y="3877056"/>
            <a:ext cx="4114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300" b="0">
                <a:solidFill>
                  <a:srgbClr val="556677"/>
                </a:solidFill>
                <a:latin typeface="Host Grotesk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" y="4270248"/>
            <a:ext cx="685800" cy="347472"/>
          </a:xfrm>
          <a:prstGeom prst="round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300" b="1">
                <a:solidFill>
                  <a:srgbClr val="1A1A1A"/>
                </a:solidFill>
                <a:latin typeface="Host Grotesk"/>
              </a:rPr>
              <a:t>that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17904" y="4270248"/>
            <a:ext cx="6858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300" b="0">
                <a:solidFill>
                  <a:srgbClr val="556677"/>
                </a:solidFill>
                <a:latin typeface="Host Grotesk"/>
              </a:rPr>
              <a:t>0.2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58568" y="4270248"/>
            <a:ext cx="960120" cy="347472"/>
          </a:xfrm>
          <a:prstGeom prst="roundRect">
            <a:avLst/>
          </a:prstGeom>
          <a:solidFill>
            <a:srgbClr val="E6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300" b="1">
                <a:solidFill>
                  <a:srgbClr val="1A1A1A"/>
                </a:solidFill>
                <a:latin typeface="Host Grotesk"/>
              </a:rPr>
              <a:t>0.07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55848" y="4270248"/>
            <a:ext cx="124815" cy="347472"/>
          </a:xfrm>
          <a:prstGeom prst="rect">
            <a:avLst/>
          </a:prstGeom>
          <a:solidFill>
            <a:srgbClr val="5D8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600" b="0">
                <a:solidFill>
                  <a:srgbClr val="1A1A1A"/>
                </a:solidFill>
                <a:latin typeface="Host Grotesk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5230368" y="4270248"/>
            <a:ext cx="4114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300" b="0">
                <a:solidFill>
                  <a:srgbClr val="556677"/>
                </a:solidFill>
                <a:latin typeface="Host Grotesk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8096" y="4663440"/>
            <a:ext cx="685800" cy="347472"/>
          </a:xfrm>
          <a:prstGeom prst="round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300" b="1">
                <a:solidFill>
                  <a:srgbClr val="1A1A1A"/>
                </a:solidFill>
                <a:latin typeface="Host Grotesk"/>
              </a:rPr>
              <a:t>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17904" y="4663440"/>
            <a:ext cx="6858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300" b="0">
                <a:solidFill>
                  <a:srgbClr val="556677"/>
                </a:solidFill>
                <a:latin typeface="Host Grotesk"/>
              </a:rPr>
              <a:t>0.0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58568" y="4663440"/>
            <a:ext cx="960120" cy="347472"/>
          </a:xfrm>
          <a:prstGeom prst="roundRect">
            <a:avLst/>
          </a:prstGeom>
          <a:solidFill>
            <a:srgbClr val="E6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300" b="1">
                <a:solidFill>
                  <a:srgbClr val="1A1A1A"/>
                </a:solidFill>
                <a:latin typeface="Host Grotesk"/>
              </a:rPr>
              <a:t>0.06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55848" y="4663440"/>
            <a:ext cx="106984" cy="347472"/>
          </a:xfrm>
          <a:prstGeom prst="rect">
            <a:avLst/>
          </a:prstGeom>
          <a:solidFill>
            <a:srgbClr val="5D8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600" b="0">
                <a:solidFill>
                  <a:srgbClr val="1A1A1A"/>
                </a:solidFill>
                <a:latin typeface="Host Grotesk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5230368" y="4663440"/>
            <a:ext cx="4114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300" b="0">
                <a:solidFill>
                  <a:srgbClr val="556677"/>
                </a:solidFill>
                <a:latin typeface="Host Grotesk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53328" y="2103120"/>
            <a:ext cx="52120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500" b="1">
                <a:solidFill>
                  <a:srgbClr val="1A1A1A"/>
                </a:solidFill>
                <a:latin typeface="Host Grotesk"/>
              </a:rPr>
              <a:t>Loss for one training target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89904" y="2615184"/>
            <a:ext cx="5102352" cy="877824"/>
          </a:xfrm>
          <a:prstGeom prst="roundRect">
            <a:avLst/>
          </a:prstGeom>
          <a:solidFill>
            <a:srgbClr val="F5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900" b="0">
                <a:solidFill>
                  <a:srgbClr val="1A1A1A"/>
                </a:solidFill>
                <a:latin typeface="Cambria Math"/>
              </a:rPr>
              <a:t>Correct token = “a”
P(correct) = 0.46
L = −log(0.46) ≈ 0.78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89904" y="3803904"/>
            <a:ext cx="5102352" cy="512064"/>
          </a:xfrm>
          <a:prstGeom prst="roundRect">
            <a:avLst/>
          </a:prstGeom>
          <a:solidFill>
            <a:srgbClr val="FBF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400" b="1">
                <a:solidFill>
                  <a:srgbClr val="1A1A1A"/>
                </a:solidFill>
                <a:latin typeface="Host Grotesk"/>
              </a:rPr>
              <a:t>Low loss  ⇔  high probability on the correct token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8" y="4956048"/>
            <a:ext cx="10561320" cy="3291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500" b="1">
                <a:solidFill>
                  <a:srgbClr val="1A1A1A"/>
                </a:solidFill>
                <a:latin typeface="Host Grotesk"/>
              </a:rPr>
              <a:t>Across a sequence, probabilities multiply: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8096" y="5303520"/>
            <a:ext cx="5047488" cy="530352"/>
          </a:xfrm>
          <a:prstGeom prst="round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2000" b="0">
                <a:solidFill>
                  <a:srgbClr val="1A1A1A"/>
                </a:solidFill>
                <a:latin typeface="Cambria Math"/>
              </a:rPr>
              <a:t>0.8 × 0.6 × 0.9 = 0.432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89904" y="5303520"/>
            <a:ext cx="5093208" cy="530352"/>
          </a:xfrm>
          <a:prstGeom prst="roundRect">
            <a:avLst/>
          </a:prstGeom>
          <a:solidFill>
            <a:srgbClr val="E8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700" b="0">
                <a:solidFill>
                  <a:srgbClr val="1A1A1A"/>
                </a:solidFill>
                <a:latin typeface="Cambria Math"/>
              </a:rPr>
              <a:t>−log(0.432) = −log(0.8) − log(0.6) − log(0.9) ≈ 0.84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8096" y="5943600"/>
            <a:ext cx="1039672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l"/>
            <a:r>
              <a:rPr sz="1300" b="1">
                <a:solidFill>
                  <a:srgbClr val="D9783F"/>
                </a:solidFill>
                <a:latin typeface="Host Grotesk"/>
              </a:rPr>
              <a:t>Why the log? </a:t>
            </a:r>
            <a:r>
              <a:rPr sz="1300" b="0">
                <a:solidFill>
                  <a:srgbClr val="1A1A1A"/>
                </a:solidFill>
                <a:latin typeface="Host Grotesk"/>
              </a:rPr>
              <a:t>It turns a product of probabilities into a sum of per-token losses — much easier to optimize numerically.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1A1A1A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From Transformer math to computer operations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35215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09585" y="1655366"/>
            <a:ext cx="10972526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High-level attention equations compile down to four fundamental computer primitives: GEMMs, reductions, elementwise ops, and memory transfers.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526506"/>
            <a:ext cx="10972526" cy="43388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3201690"/>
            <a:ext cx="10972526" cy="650577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4093567"/>
          <a:ext cx="9143771" cy="914400"/>
        </p:xfrm>
        <a:graphic>
          <a:graphicData uri="http://schemas.openxmlformats.org/drawingml/2006/table">
            <a:tbl>
              <a:tblPr/>
              <a:tblGrid>
                <a:gridCol w="5266812"/>
                <a:gridCol w="5705713"/>
              </a:tblGrid>
              <a:tr h="242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spc="120" kern="0" dirty="0">
                          <a:solidFill>
                            <a:srgbClr val="556677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TRANSFORMER OPERATION</a:t>
                      </a:r>
                      <a:endParaRPr lang="en-US" sz="12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spc="120" kern="0" dirty="0">
                          <a:solidFill>
                            <a:srgbClr val="556677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HARDWARE PRIMITIVE</a:t>
                      </a:r>
                      <a:endParaRPr lang="en-US" sz="12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6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Q / K / V &amp; Output Projections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Matrix multiplication (GEMM)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6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QK^T and Attention × V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Matrix multiplication (GEMM)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6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Softmax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Reductions (max, sum) + elementwise exp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6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LayerNorm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Reductions (mean, var) + elementwise scale/bias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6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Residual addition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Elementwise add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52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Embedding lookup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Indexed memory read / gather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3139401" cy="1706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1A1A1A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Our NumPy reference implementation (cpu/gpt2.py)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2682875"/>
            <a:ext cx="3139302" cy="1260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09585" y="3036887"/>
            <a:ext cx="3139401" cy="1574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 line-by-line Python reference that mirrors the exact mathematics and serves as the ground-truth oracle for GPU verification.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5146278"/>
            <a:ext cx="3139401" cy="1102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Equation → NumPy → future CUDA kernels: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Clean 1-to-1 correspondence between mathematical tensor operations and executable kernels.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272849" y="838200"/>
            <a:ext cx="6309262" cy="5282009"/>
          </a:xfrm>
          <a:prstGeom prst="roundRect">
            <a:avLst>
              <a:gd name="adj" fmla="val 21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516623" y="1041400"/>
            <a:ext cx="5821713" cy="4875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w.wte[token_ids] + w.wpe[pos]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qkv = linear(x, c_attn_w, c_attn_b)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q, k, v = np.split(qkv, 3, axis=-1)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(qh @ kh.transpose(0, 2, 1)) * scale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attn   = softmax(scores, axis=-1)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   = attn @ vh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layer_norm(x);  h = causal_self_attention(h);  x = x + h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layer_norm(x);  h = gelu_new(linear(h, ...));  x = x + h   # MLP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final_layer_norm(x)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logits = x @ w.wte.T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1A1A1A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Decoding: choosing the next token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35215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09585" y="1655366"/>
            <a:ext cx="10972526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sz="1600" b="0">
                <a:solidFill>
                  <a:srgbClr val="1A1A1A"/>
                </a:solidFill>
                <a:latin typeface="Host Grotesk"/>
              </a:rPr>
              <a:t>Once we have a probability distribution, decoding turns it into one concrete next token.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526506"/>
            <a:ext cx="6756231" cy="6813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3363416"/>
            <a:ext cx="675623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pPr algn="l" indent="0" marL="0">
              <a:lnSpc>
                <a:spcPct val="129000"/>
              </a:lnSpc>
              <a:buNone/>
            </a:pPr>
            <a:r>
              <a:rPr sz="1600" b="1">
                <a:solidFill>
                  <a:srgbClr val="1A1A1A"/>
                </a:solidFill>
                <a:latin typeface="Host Grotesk Bold"/>
              </a:rPr>
              <a:t>Pipeline: probabilities → decoding strategy → next token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09585" y="4148832"/>
            <a:ext cx="675623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Decoding strategies: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Greedy </a:t>
            </a:r>
            <a:pPr algn="l" indent="0" marL="0">
              <a:lnSpc>
                <a:spcPct val="129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vs. Top-k / Top-p stochastic sampling.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80" y="4180582"/>
            <a:ext cx="681219" cy="25429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9585" y="4934248"/>
            <a:ext cx="675623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sz="1400" b="0">
                <a:solidFill>
                  <a:srgbClr val="556677"/>
                </a:solidFill>
                <a:latin typeface="Host Grotesk"/>
              </a:rPr>
              <a:t>Inference ends by turning scores into a token; training uses the loss to learn θ.</a:t>
            </a:r>
            <a:endParaRPr lang="en-US" sz="1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5404743"/>
            <a:ext cx="6756231" cy="433884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0509" y="3378795"/>
            <a:ext cx="3682908" cy="160754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1A1A1A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Q, K, V: no KV cache (demo) vs. KV cache (production)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40295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09585" y="1756966"/>
            <a:ext cx="10972526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Autoregressive decoding generates one token at a time. Caching past Keys and Values avoids recalculating prior token representations.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2628106"/>
            <a:ext cx="1158211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Single linear projection: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Generates </a:t>
            </a:r>
            <a:pPr algn="l" indent="0" marL="0">
              <a:lnSpc>
                <a:spcPct val="129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vectors at each layer.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2051" y="2659856"/>
            <a:ext cx="675762" cy="263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9585" y="3184327"/>
            <a:ext cx="5333867" cy="1941016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44529" y="3419277"/>
            <a:ext cx="4863978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Our run.py (No KV cache)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44529" y="3932932"/>
            <a:ext cx="4863978" cy="944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Full forward pass every token, recomputing all past </a:t>
            </a:r>
            <a:pPr algn="l" indent="0" marL="0">
              <a:lnSpc>
                <a:spcPct val="129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and </a:t>
            </a:r>
            <a:pPr algn="l" indent="0" marL="0">
              <a:lnSpc>
                <a:spcPct val="129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(</a:t>
            </a:r>
            <a:pPr algn="l" indent="0" marL="0">
              <a:lnSpc>
                <a:spcPct val="129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total work). Directly tied to `--verbose-timing` in our CPU benchmark.</a:t>
            </a:r>
            <a:endParaRPr lang="en-US" sz="16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529" y="4279602"/>
            <a:ext cx="182657" cy="263624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730" y="4279602"/>
            <a:ext cx="159738" cy="263624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3156" y="4279602"/>
            <a:ext cx="533982" cy="263624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248244" y="3184327"/>
            <a:ext cx="5333867" cy="19410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" name="Shape 8"/>
          <p:cNvSpPr/>
          <p:nvPr/>
        </p:nvSpPr>
        <p:spPr>
          <a:xfrm>
            <a:off x="6248244" y="3184327"/>
            <a:ext cx="5333867" cy="1905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5" name="Shape 9"/>
          <p:cNvSpPr/>
          <p:nvPr/>
        </p:nvSpPr>
        <p:spPr>
          <a:xfrm>
            <a:off x="11575760" y="3184327"/>
            <a:ext cx="6350" cy="1941016"/>
          </a:xfrm>
          <a:prstGeom prst="rect">
            <a:avLst/>
          </a:prstGeom>
          <a:solidFill>
            <a:srgbClr val="1A1A1A">
              <a:alpha val="12000"/>
            </a:srgbClr>
          </a:solidFill>
          <a:ln/>
        </p:spPr>
        <p:txBody>
          <a:bodyPr/>
          <a:p/>
        </p:txBody>
      </p:sp>
      <p:sp>
        <p:nvSpPr>
          <p:cNvPr id="16" name="Shape 10"/>
          <p:cNvSpPr/>
          <p:nvPr/>
        </p:nvSpPr>
        <p:spPr>
          <a:xfrm>
            <a:off x="6248244" y="5118993"/>
            <a:ext cx="5333867" cy="6350"/>
          </a:xfrm>
          <a:prstGeom prst="rect">
            <a:avLst/>
          </a:prstGeom>
          <a:solidFill>
            <a:srgbClr val="1A1A1A">
              <a:alpha val="12000"/>
            </a:srgbClr>
          </a:solidFill>
          <a:ln/>
        </p:spPr>
        <p:txBody>
          <a:bodyPr/>
          <a:p/>
        </p:txBody>
      </p:sp>
      <p:sp>
        <p:nvSpPr>
          <p:cNvPr id="17" name="Shape 11"/>
          <p:cNvSpPr/>
          <p:nvPr/>
        </p:nvSpPr>
        <p:spPr>
          <a:xfrm>
            <a:off x="6248244" y="3184327"/>
            <a:ext cx="6350" cy="1941016"/>
          </a:xfrm>
          <a:prstGeom prst="rect">
            <a:avLst/>
          </a:prstGeom>
          <a:solidFill>
            <a:srgbClr val="1A1A1A">
              <a:alpha val="12000"/>
            </a:srgbClr>
          </a:solidFill>
          <a:ln/>
        </p:spPr>
        <p:txBody>
          <a:bodyPr/>
          <a:p/>
        </p:txBody>
      </p:sp>
      <p:sp>
        <p:nvSpPr>
          <p:cNvPr id="18" name="Text 12"/>
          <p:cNvSpPr/>
          <p:nvPr/>
        </p:nvSpPr>
        <p:spPr>
          <a:xfrm>
            <a:off x="6483188" y="3431977"/>
            <a:ext cx="4863978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Production KV cache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6483188" y="3945632"/>
            <a:ext cx="4863978" cy="944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Stores previous </a:t>
            </a:r>
            <a:pPr algn="l" indent="0" marL="0">
              <a:lnSpc>
                <a:spcPct val="129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and </a:t>
            </a:r>
            <a:pPr algn="l" indent="0" marL="0">
              <a:lnSpc>
                <a:spcPct val="129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in GPU VRAM; only new query </a:t>
            </a:r>
            <a:pPr algn="l" indent="0" marL="0">
              <a:lnSpc>
                <a:spcPct val="129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attends over the stored history (</a:t>
            </a:r>
            <a:pPr algn="l" indent="0" marL="0">
              <a:lnSpc>
                <a:spcPct val="129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</a:t>
            </a:r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per step).</a:t>
            </a:r>
            <a:endParaRPr lang="en-US" sz="16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5578" y="3977382"/>
            <a:ext cx="182657" cy="263624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3779" y="3977382"/>
            <a:ext cx="159738" cy="263624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3248" y="4292302"/>
            <a:ext cx="406092" cy="263624"/>
          </a:xfrm>
          <a:prstGeom prst="rect">
            <a:avLst/>
          </a:prstGeom>
        </p:spPr>
      </p:pic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68616" y="4292302"/>
            <a:ext cx="454609" cy="263624"/>
          </a:xfrm>
          <a:prstGeom prst="rect">
            <a:avLst/>
          </a:prstGeom>
        </p:spPr>
      </p:pic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585" y="5366643"/>
            <a:ext cx="761981" cy="101600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15" kern="0" dirty="0">
                <a:solidFill>
                  <a:srgbClr val="1A1A1A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Why GPU + CUDA execution: mapping GEMMs to silicon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1352153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09585" y="1655366"/>
            <a:ext cx="10972526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CPUs optimize for low-latency serial execution; GPUs dedicate silicon to massive SIMT parallel throughput for independent matrix tiles.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526506"/>
            <a:ext cx="2709199" cy="20319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4713982"/>
            <a:ext cx="5333867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GEMM parallelism: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Each </a:t>
            </a:r>
            <a:pPr algn="l" indent="0" marL="0">
              <a:lnSpc>
                <a:spcPct val="129000"/>
              </a:lnSpc>
              <a:buNone/>
            </a:pPr>
            <a:r>
              <a:rPr lang="en-US" sz="135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        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is computed independently across thousands of GPU cores.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474" y="4745732"/>
            <a:ext cx="1264114" cy="2338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9585" y="5420618"/>
            <a:ext cx="5333867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CUDA execution hierarchy: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Kernel launch → Grid → Thread Blocks → Warps (32 threads) → Individual Threads.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244" y="2526506"/>
            <a:ext cx="2709199" cy="203190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48244" y="4713982"/>
            <a:ext cx="5333867" cy="1533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Memory hierarchy &amp; tiling:</a:t>
            </a:r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Output matrices are broken into tiles; threads cooperate via registers, shared memory, and L1/L2 caches to minimize global DRAM traffic.</a:t>
            </a:r>
            <a:endParaRPr lang="en-US" sz="14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CUDA-Oxide note:</a:t>
            </a:r>
            <a:pPr algn="l" indent="0" marL="0">
              <a:lnSpc>
                <a:spcPct val="129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Targets these same hardware kernels via Rust and NVIDIA's `cargo oxide` toolchain.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11350143" y="6444952"/>
            <a:ext cx="84155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spc="198" kern="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99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800" spc="-14" kern="0" dirty="0">
                <a:solidFill>
                  <a:srgbClr val="1A1A1A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Same math, three runtimes + live CPU demo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09585" y="1288256"/>
            <a:ext cx="10972526" cy="1260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09585" y="1558131"/>
            <a:ext cx="10972526" cy="570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Same GPT-2 weights, same mathematical operations, implemented across three execution systems to verify numerical logits and measure performance.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339677"/>
          <a:ext cx="9143771" cy="914400"/>
        </p:xfrm>
        <a:graphic>
          <a:graphicData uri="http://schemas.openxmlformats.org/drawingml/2006/table">
            <a:tbl>
              <a:tblPr/>
              <a:tblGrid>
                <a:gridCol w="2084780"/>
                <a:gridCol w="2084780"/>
                <a:gridCol w="1755604"/>
                <a:gridCol w="1975055"/>
                <a:gridCol w="1536154"/>
                <a:gridCol w="1536154"/>
              </a:tblGrid>
              <a:tr h="611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112" kern="0" dirty="0">
                          <a:solidFill>
                            <a:srgbClr val="556677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RUNTIME</a:t>
                      </a:r>
                      <a:endParaRPr lang="en-US" sz="11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112" kern="0" dirty="0">
                          <a:solidFill>
                            <a:srgbClr val="556677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EXECUTION UNIT</a:t>
                      </a:r>
                      <a:endParaRPr lang="en-US" sz="11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112" kern="0" dirty="0">
                          <a:solidFill>
                            <a:srgbClr val="556677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PREFILL LATENCY</a:t>
                      </a:r>
                      <a:endParaRPr lang="en-US" sz="11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112" kern="0" dirty="0">
                          <a:solidFill>
                            <a:srgbClr val="556677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DECODE THROUGHPUT</a:t>
                      </a:r>
                      <a:endParaRPr lang="en-US" sz="11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112" kern="0" dirty="0">
                          <a:solidFill>
                            <a:srgbClr val="556677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P50 LATENCY</a:t>
                      </a:r>
                      <a:endParaRPr lang="en-US" sz="11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112" kern="0" dirty="0">
                          <a:solidFill>
                            <a:srgbClr val="556677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P95 LATENCY</a:t>
                      </a:r>
                      <a:endParaRPr lang="en-US" sz="11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89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NumPy reference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CPU (x86_64)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Live measured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Live tok/s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Live measured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Live measured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15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CUDA C++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GPU (NVCC)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TBD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TBD tok/s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TBD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TBD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51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CUDA-Oxide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5399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GPU (Rust SIMT)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TBD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TBD tok/s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TBD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TBD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203195" marR="152396" marT="88898" marB="888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09585" y="4992191"/>
            <a:ext cx="7111822" cy="1900734"/>
          </a:xfrm>
          <a:prstGeom prst="roundRect">
            <a:avLst>
              <a:gd name="adj" fmla="val 60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37683" y="5182295"/>
            <a:ext cx="6655626" cy="1520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Live demonstration trace:</a:t>
            </a:r>
            <a:endParaRPr lang="en-US" sz="1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verify                 # Assert logits match within tolerance (logits_CPU ≈ logits_GPU)</a:t>
            </a:r>
            <a:endParaRPr lang="en-US" sz="15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run.py --prompt "The strangest thing I found inside my refrigerator was" --verbose-timing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26199" y="4778375"/>
            <a:ext cx="3555911" cy="1633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105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Live demonstration:</a:t>
            </a:r>
            <a:pPr algn="l" indent="0" marL="0">
              <a:lnSpc>
                <a:spcPct val="125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Run prompt on CPU oracle → compare logits → generate tokens → inspect `--verbose-timing`.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Status: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CPU oracle live today; GPU paths (CUDA C++ &amp; CUDA-Oxide) target identical math on NVIDIA hardware.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365124" y="6451898"/>
            <a:ext cx="826571" cy="202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50" spc="185" kern="0" dirty="0">
                <a:solidFill>
                  <a:srgbClr val="1A1A1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2026-09-26T04:51:58Z</dcterms:created>
  <dcterms:modified xsi:type="dcterms:W3CDTF">2026-09-26T04:51:58Z</dcterms:modified>
</cp:coreProperties>
</file>